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86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开场先说明这次汇报不只是讲一个 AI 项目，而是讲 AI Native 战队为什么成立、当前怎么打、后续如何建设成平台能力。</a:t>
            </a:r>
            <a:endParaRPr lang="zh-CN" sz="1200"/>
          </a:p>
          <a:p>
            <a:pPr algn="l"/>
            <a:r>
              <a:rPr lang="zh-CN" sz="1200"/>
              <a:t>可以强调汇报主线：先讲定位和边界，再讲 5-8 月核心战役，再讲平台演进、团队建设和需要的协同支持。</a:t>
            </a:r>
            <a:endParaRPr lang="zh-CN" sz="1200"/>
          </a:p>
          <a:p>
            <a:pPr algn="l"/>
            <a:r>
              <a:rPr lang="zh-CN" sz="1200"/>
              <a:t>这页不用展开技术细节，重点把听众拉到“战队级、平台级、商业化级”的讨论层面。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第一部分回答两个问题：我们为什么存在，以及我们和周边团队有什么区别。</a:t>
            </a:r>
            <a:endParaRPr lang="zh-CN" sz="1200"/>
          </a:p>
          <a:p>
            <a:pPr algn="l"/>
            <a:r>
              <a:rPr lang="zh-CN" sz="1200"/>
              <a:t>这里先把 AI Native 平台定义成下一代智能化产品形态的基础设施，而不是某个单点 AI 功能。</a:t>
            </a:r>
            <a:endParaRPr lang="zh-CN" sz="1200"/>
          </a:p>
          <a:p>
            <a:pPr algn="l"/>
            <a:r>
              <a:rPr lang="zh-CN" sz="1200"/>
              <a:t>讲的时候可以点出：基础平台负责稳定底盘，业务应用负责前线场景，AI Native 平台负责把模型能力变成可运行、可治理、可复用的 Agent 底座。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这一页讲“为什么必须有平台”。过去 AI 主要是单点生成、问答、摘要，关注的是能不能调用模型。</a:t>
            </a:r>
            <a:endParaRPr lang="zh-CN" sz="1200"/>
          </a:p>
          <a:p>
            <a:pPr algn="l"/>
            <a:r>
              <a:rPr lang="zh-CN" sz="1200"/>
              <a:t>现在 Agent 开始进入业务系统，开始多步执行、调用工具、读写业务对象、产生业务结果，问题就变成安全、稳定、成本、权限和效果能不能被统一治理。</a:t>
            </a:r>
            <a:endParaRPr lang="zh-CN" sz="1200"/>
          </a:p>
          <a:p>
            <a:pPr algn="l"/>
            <a:r>
              <a:rPr lang="zh-CN" sz="1200"/>
              <a:t>所以平台不是概念创新，而是规模化后的必然要求；否则每条业务线都会重复造轮子，模型成本、权限风险和架构债都会快速失控。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这一页讲我们和通用 Agent / Cloud Agent 类产品的差异。通用 Agent 更像跨工具自动化助手，优势是泛化能力强，但对企业业务对象、权限、租户隔离和流程治理理解不深。</a:t>
            </a:r>
            <a:endParaRPr lang="zh-CN" sz="1200"/>
          </a:p>
          <a:p>
            <a:pPr algn="l"/>
            <a:r>
              <a:rPr lang="zh-CN" sz="1200"/>
              <a:t>我们的定位不是做一个通用 AI Worker，而是做 CRM 业务系统里的可信执行平台。</a:t>
            </a:r>
            <a:endParaRPr lang="zh-CN" sz="1200"/>
          </a:p>
          <a:p>
            <a:pPr algn="l"/>
            <a:r>
              <a:rPr lang="zh-CN" sz="1200"/>
              <a:t>重点强调三点：第一，执行对象是 CRM 业务对象和业务流；第二，权限继承 aPaaS 和租户边界；第三，评测、审计、回滚、治理必须天然内建。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这一页要把边界讲清楚，避免大家误解 AI Native 平台会替代业务团队或 aPaaS。</a:t>
            </a:r>
            <a:endParaRPr lang="zh-CN" sz="1200"/>
          </a:p>
          <a:p>
            <a:pPr algn="l"/>
            <a:r>
              <a:rPr lang="zh-CN" sz="1200"/>
              <a:t>AI Native 平台负责 Agent Runtime、模型网关、Skill/Tool 接入、Prompt/Skill 治理、记忆、评测、Tracing、Trust Layer 和 AG-UI。</a:t>
            </a:r>
            <a:endParaRPr lang="zh-CN" sz="1200"/>
          </a:p>
          <a:p>
            <a:pPr algn="l"/>
            <a:r>
              <a:rPr lang="zh-CN" sz="1200"/>
              <a:t>aPaaS 负责元数据、业务对象、权限、XOQL、工作流和租户隔离；业务团队负责场景定义、SOP、业务 Prompt、客户反馈和效果验收。</a:t>
            </a:r>
            <a:endParaRPr lang="zh-CN" sz="1200"/>
          </a:p>
          <a:p>
            <a:pPr algn="l"/>
            <a:r>
              <a:rPr lang="zh-CN" sz="1200"/>
              <a:t>核心结论是：平台让 Agent 安全稳定低成本地跑起来，业务团队让 Agent 真正在场景里有用，aPaaS 保证数据和流程正确可信。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这一页是战队定位的总括，可以用“守底盘、战未来、强运营”三个词来讲。</a:t>
            </a:r>
            <a:endParaRPr lang="zh-CN" sz="1200"/>
          </a:p>
          <a:p>
            <a:pPr algn="l"/>
            <a:r>
              <a:rPr lang="zh-CN" sz="1200"/>
              <a:t>守底盘：我们继承基础平台对稳定性、体验一致性和渐进创新的要求。</a:t>
            </a:r>
            <a:endParaRPr lang="zh-CN" sz="1200"/>
          </a:p>
          <a:p>
            <a:pPr algn="l"/>
            <a:r>
              <a:rPr lang="zh-CN" sz="1200"/>
              <a:t>战未来：我们要把 AI 原生能力做成下一代 AI CRM 的平台和产品底座。</a:t>
            </a:r>
            <a:endParaRPr lang="zh-CN" sz="1200"/>
          </a:p>
          <a:p>
            <a:pPr algn="l"/>
            <a:r>
              <a:rPr lang="zh-CN" sz="1200"/>
              <a:t>强运营：AI 能力不能只上线功能，要通过数据、反馈、评测和周级迭代持续变好。</a:t>
            </a:r>
            <a:endParaRPr lang="zh-CN" sz="1200"/>
          </a:p>
          <a:p>
            <a:pPr algn="l"/>
            <a:r>
              <a:rPr lang="zh-CN" sz="1200"/>
              <a:t>最后落到一句话：AI Native 战队的价值，是把基础平台、AI 原生突破和业务运营反馈连接成持续进化的智能化底座。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这一页用来讲平台整体架构，建议从下往上讲。</a:t>
            </a:r>
            <a:endParaRPr lang="zh-CN" sz="1200"/>
          </a:p>
          <a:p>
            <a:pPr algn="l"/>
            <a:r>
              <a:rPr lang="zh-CN" sz="1200"/>
              <a:t>最底层是大模型网关和基础原子能力，解决模型接入、解析、OCR、ASR、向量库等通用能力问题。</a:t>
            </a:r>
            <a:endParaRPr lang="zh-CN" sz="1200"/>
          </a:p>
          <a:p>
            <a:pPr algn="l"/>
            <a:r>
              <a:rPr lang="zh-CN" sz="1200"/>
              <a:t>中间是 Agent 平台核心，包括 Tool、Middleware、记忆、Skill、MCP、反思，以及 Prompt 中台和支撑能力层。这里是我们真正沉淀平台资产的地方。</a:t>
            </a:r>
            <a:endParaRPr lang="zh-CN" sz="1200"/>
          </a:p>
          <a:p>
            <a:pPr algn="l"/>
            <a:r>
              <a:rPr lang="zh-CN" sz="1200"/>
              <a:t>最上层是业务实现层，销售、渠道、服务等业务应用都不应该重复建设底座，而是在统一平台能力上做场景创新。</a:t>
            </a:r>
            <a:endParaRPr lang="zh-CN" sz="1200"/>
          </a:p>
          <a:p>
            <a:pPr algn="l"/>
            <a:r>
              <a:rPr lang="zh-CN" sz="1200"/>
              <a:t>这页的重点不是罗列组件，而是说明：上层场景可以分化，但底层运行、能力、治理和资源计量必须统一。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altLang="en-US" sz="1200"/>
              <a:t>【注释】本页从“产品清单”改成“能力点分层借力”，避免误解为 </a:t>
            </a:r>
            <a:r>
              <a:rPr lang="en-US" altLang="zh-CN" sz="1200"/>
              <a:t>ADP / CloudAgent / WorkBuddy </a:t>
            </a:r>
            <a:r>
              <a:rPr lang="zh-CN" altLang="en-US" sz="1200"/>
              <a:t>等产品已经全面接入。</a:t>
            </a:r>
            <a:endParaRPr lang="zh-CN" altLang="en-US" sz="1200"/>
          </a:p>
          <a:p>
            <a:pPr algn="l"/>
            <a:r>
              <a:rPr lang="zh-CN" altLang="en-US" sz="1200"/>
              <a:t>【口播】这里不按具体厂商产品来讲，而按能力点讲。我们已经接入的是基础能力，包括模型调用和向量存储。下一层是智能体构建与编排能力，比如 </a:t>
            </a:r>
            <a:r>
              <a:rPr lang="en-US" altLang="zh-CN" sz="1200"/>
              <a:t>RAG、Workflow、Multi-Agent、Prompt / Skill </a:t>
            </a:r>
            <a:r>
              <a:rPr lang="zh-CN" altLang="en-US" sz="1200"/>
              <a:t>管理，以及评测、发布、调优和运营链路，这些能力正在和腾讯侧同步交流、联合评估。再下一层是云端运行时和沙箱能力，包括任务隔离、状态持久化、生命周期、长任务执行和产物追踪，这些还要看 </a:t>
            </a:r>
            <a:r>
              <a:rPr lang="en-US" altLang="zh-CN" sz="1200"/>
              <a:t>CloudAgent / AgentOS </a:t>
            </a:r>
            <a:r>
              <a:rPr lang="zh-CN" altLang="en-US" sz="1200"/>
              <a:t>侧能力成熟度和接口边界。办公和研发执行入口则更多是交互形态和工程链路借鉴。我们的边界很清楚：通用底座能借力就借力，</a:t>
            </a:r>
            <a:r>
              <a:rPr lang="en-US" altLang="zh-CN" sz="1200"/>
              <a:t>CRM Agent </a:t>
            </a:r>
            <a:r>
              <a:rPr lang="zh-CN" altLang="en-US" sz="1200"/>
              <a:t>大脑、业务编排、</a:t>
            </a:r>
            <a:r>
              <a:rPr lang="en-US" altLang="zh-CN" sz="1200"/>
              <a:t>aPaaS </a:t>
            </a:r>
            <a:r>
              <a:rPr lang="zh-CN" altLang="en-US" sz="1200"/>
              <a:t>集成、数据权限和商业化闭环仍然由我们自研掌控。</a:t>
            </a:r>
            <a:endParaRPr lang="zh-CN" altLang="en-US" sz="1200"/>
          </a:p>
          <a:p>
            <a:pPr algn="l"/>
            <a:r>
              <a:rPr lang="zh-CN" altLang="en-US" sz="1200"/>
              <a:t>【口径提醒】如需提产品名，可在口播中轻量说明：智能体构建能力可参考 </a:t>
            </a:r>
            <a:r>
              <a:rPr lang="en-US" altLang="zh-CN" sz="1200"/>
              <a:t>ADP，</a:t>
            </a:r>
            <a:r>
              <a:rPr lang="zh-CN" altLang="en-US" sz="1200"/>
              <a:t>运行时能力可参考 </a:t>
            </a:r>
            <a:r>
              <a:rPr lang="en-US" altLang="zh-CN" sz="1200"/>
              <a:t>AgentOS / CloudAgent，</a:t>
            </a:r>
            <a:r>
              <a:rPr lang="zh-CN" altLang="en-US" sz="1200"/>
              <a:t>办公与研发入口可参考 </a:t>
            </a:r>
            <a:r>
              <a:rPr lang="en-US" altLang="zh-CN" sz="1200"/>
              <a:t>WorkBuddy / CodeBuddy；</a:t>
            </a:r>
            <a:r>
              <a:rPr lang="zh-CN" altLang="en-US" sz="1200"/>
              <a:t>但页面主表达以能力点为主。</a:t>
            </a:r>
            <a:endParaRPr lang="zh-CN" altLang="en-US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这一页回应“当前人员配备是否有短板，以及如何转型”。</a:t>
            </a:r>
            <a:endParaRPr lang="zh-CN" sz="1200"/>
          </a:p>
          <a:p>
            <a:pPr algn="l"/>
            <a:r>
              <a:rPr lang="zh-CN" sz="1200"/>
              <a:t>现有团队有产品、UX、架构、前后端、测试等基础配置，但 AI Native 团队不能继续按传统职能分工来运转。</a:t>
            </a:r>
            <a:endParaRPr lang="zh-CN" sz="1200"/>
          </a:p>
          <a:p>
            <a:pPr algn="l"/>
            <a:r>
              <a:rPr lang="zh-CN" sz="1200"/>
              <a:t>当前短板主要在复杂 Runtime 稳定性、AG-UI / 对话式交互、评测运营、商业化产品包装和数据化证明。</a:t>
            </a:r>
            <a:endParaRPr lang="zh-CN" sz="1200"/>
          </a:p>
          <a:p>
            <a:pPr algn="l"/>
            <a:r>
              <a:rPr lang="zh-CN" sz="1200"/>
              <a:t>转型方向不是简单招人，而是让现有人才围绕 Agent 闭环升级：测试转评测工程，前后端转智能研发，产品和设计转平台化与 AI 原生体验，架构骨干承担 Runtime 和治理能力。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第二部分回答“当前工作重心和短期目标”。这里要把主题收束到首战告捷，但不是只打一条销售线。</a:t>
            </a:r>
            <a:endParaRPr lang="zh-CN" sz="1200"/>
          </a:p>
          <a:p>
            <a:pPr algn="l"/>
            <a:r>
              <a:rPr lang="zh-CN" sz="1200"/>
              <a:t>我们的打法是三线并行：同步支撑销售智能、渠道智能、服务智能，在真实业务压力下快速验证平台能力。</a:t>
            </a:r>
            <a:endParaRPr lang="zh-CN" sz="1200"/>
          </a:p>
          <a:p>
            <a:pPr algn="l"/>
            <a:r>
              <a:rPr lang="zh-CN" sz="1200"/>
              <a:t>这部分要讲清楚：业务侧要看到交付结果，平台侧要同步沉淀可复用能力，不能做成三个孤立项目。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这一页定义当前核心战役：同步支撑三大 Agent 业务，边打边沉淀平台能力。</a:t>
            </a:r>
            <a:endParaRPr lang="zh-CN" sz="1200"/>
          </a:p>
          <a:p>
            <a:pPr algn="l"/>
            <a:r>
              <a:rPr lang="zh-CN" sz="1200"/>
              <a:t>销售智能验证高频用户、商业化压力、工作台和赢单闭环；渠道智能验证跨组织协同、外部数据和生态接入；服务智能验证知识检索、回复策略和问题闭环。</a:t>
            </a:r>
            <a:endParaRPr lang="zh-CN" sz="1200"/>
          </a:p>
          <a:p>
            <a:pPr algn="l"/>
            <a:r>
              <a:rPr lang="zh-CN" sz="1200"/>
              <a:t>讲的时候要强调，三线并行不是工作量简单乘三，而是用三类典型场景去压测平台通用性。</a:t>
            </a:r>
            <a:endParaRPr lang="zh-CN" sz="1200"/>
          </a:p>
          <a:p>
            <a:pPr algn="l"/>
            <a:r>
              <a:rPr lang="zh-CN" sz="1200"/>
              <a:t>打赢的标志不是每条线做一个 Demo，而是 AG-UI、Skill、记忆、评测、Trust Layer、API/MCP 等能力能跨线复用。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这一页讲当前成熟度，口径是“可用，但还没全面好用”。</a:t>
            </a:r>
            <a:endParaRPr lang="zh-CN" sz="1200"/>
          </a:p>
          <a:p>
            <a:pPr algn="l"/>
            <a:r>
              <a:rPr lang="zh-CN" sz="1200"/>
              <a:t>我们已经完成从 0 到 1，模型接入、Agent 交互链路和首批场景可以跑起来。</a:t>
            </a:r>
            <a:endParaRPr lang="zh-CN" sz="1200"/>
          </a:p>
          <a:p>
            <a:pPr algn="l"/>
            <a:r>
              <a:rPr lang="zh-CN" sz="1200"/>
              <a:t>但要支撑三条业务线持续迭代，必须把稳定性、复用性、可评估、可运营和可治理做扎实。</a:t>
            </a:r>
            <a:endParaRPr lang="zh-CN" sz="1200"/>
          </a:p>
          <a:p>
            <a:pPr algn="l"/>
            <a:r>
              <a:rPr lang="zh-CN" sz="1200"/>
              <a:t>这里不要把问题讲成失败，而要讲成平台进入 2.0 后的必经阶段：从能跑通，转向能稳定规模化。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这一页讲短板，重点是这些短板不是某个业务线的局部问题，而是三线并行暴露出的平台共性问题。</a:t>
            </a:r>
            <a:endParaRPr lang="zh-CN" sz="1200"/>
          </a:p>
          <a:p>
            <a:pPr algn="l"/>
            <a:r>
              <a:rPr lang="zh-CN" sz="1200"/>
              <a:t>稳定性不足会让业务不敢把关键流程交给 Agent；评测缺位会导致迭代效果无法证明；治理弱会影响大客户和商业化；复用门槛高会让每条业务线都像重新做一遍。</a:t>
            </a:r>
            <a:endParaRPr lang="zh-CN" sz="1200"/>
          </a:p>
          <a:p>
            <a:pPr algn="l"/>
            <a:r>
              <a:rPr lang="zh-CN" sz="1200"/>
              <a:t>所以三线并行的价值，是尽早把平台底层问题暴露出来，并形成统一修复机制。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这一页是 5-8 月路线图，讲的时候按照“每个月业务目标 + 平台目标”展开。</a:t>
            </a:r>
            <a:endParaRPr lang="zh-CN" sz="1200"/>
          </a:p>
          <a:p>
            <a:pPr algn="l"/>
            <a:r>
              <a:rPr lang="zh-CN" sz="1200"/>
              <a:t>5 月先跑通最小闭环，6 月进入关键 Skill 和版本治理，7 月准备移动端、外部调用和跨线复制，8 月形成 GA 和标杆客户深度使用。</a:t>
            </a:r>
            <a:endParaRPr lang="zh-CN" sz="1200"/>
          </a:p>
          <a:p>
            <a:pPr algn="l"/>
            <a:r>
              <a:rPr lang="zh-CN" sz="1200"/>
              <a:t>这里要强调节奏：不是年度规划，而是 3 个半月的高密度周级迭代。</a:t>
            </a:r>
            <a:endParaRPr lang="zh-CN" sz="1200"/>
          </a:p>
          <a:p>
            <a:pPr algn="l"/>
            <a:r>
              <a:rPr lang="zh-CN" sz="1200"/>
              <a:t>每个月都要同时交付两类成果：业务线看得到可用结果，平台侧沉淀可复用资产。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这一页是短期交付清单，可以讲成平台侧的五个抓手。</a:t>
            </a:r>
            <a:endParaRPr lang="zh-CN" sz="1200"/>
          </a:p>
          <a:p>
            <a:pPr algn="l"/>
            <a:r>
              <a:rPr lang="zh-CN" sz="1200"/>
              <a:t>运行底座保障 Agent 2.0、Runtime 和多轮任务状态管理；交互体验统一 AG-UI、PC/移动和 API 调用；能力复用沉淀 Skill、Tool、Prompt、记忆和原子能力；质量治理建设 Tracing、评估集和质量周报；安全可信补 HITL、Trust Layer、脱敏、限流和审计。</a:t>
            </a:r>
            <a:endParaRPr lang="zh-CN" sz="1200"/>
          </a:p>
          <a:p>
            <a:pPr algn="l"/>
            <a:r>
              <a:rPr lang="zh-CN" sz="1200"/>
              <a:t>最后要强调判断标准：能跨业务线稳定运行的，才叫平台能力；只服务单一项目的，仍然只是项目能力。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第三部分开始讲未来工作方向。Part2 讲的是 5-8 月怎么打，Part3 要讲打完之后平台能力如何继续沉淀和外溢。</a:t>
            </a:r>
            <a:endParaRPr lang="zh-CN" sz="1200"/>
          </a:p>
          <a:p>
            <a:pPr algn="l"/>
            <a:r>
              <a:rPr lang="zh-CN" sz="1200"/>
              <a:t>这里的关键词是：内部支撑、外部售卖、生态扩展。</a:t>
            </a:r>
            <a:endParaRPr lang="zh-CN" sz="1200"/>
          </a:p>
          <a:p>
            <a:pPr algn="l"/>
            <a:r>
              <a:rPr lang="zh-CN" sz="1200"/>
              <a:t>我们不是要把所有事情摊开做，而是聚焦三条工作线：能力产品化、接入标准化、运营商业化。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这一页讲平台的三类服务对象。第一类是内部 AI 业务团队，他们要快速交付业务 Agent，平台提供 Runtime、AG-UI、Skill、原子能力、评测和治理。</a:t>
            </a:r>
            <a:endParaRPr lang="zh-CN" sz="1200"/>
          </a:p>
          <a:p>
            <a:pPr algn="l"/>
            <a:r>
              <a:rPr lang="zh-CN" sz="1200"/>
              <a:t>第二类是 CRM 终端客户，他们不是购买上层 AI 业务团队，而是购买 AI Native 平台能力，基于平台快速搭建自己的 Agent 应用。</a:t>
            </a:r>
            <a:endParaRPr lang="zh-CN" sz="1200"/>
          </a:p>
          <a:p>
            <a:pPr algn="l"/>
            <a:r>
              <a:rPr lang="zh-CN" sz="1200"/>
              <a:t>第三类是生态伙伴，包括 ISV、行业伙伴、外部系统服务方，他们希望把行业能力和外部数据接入 CRM 生态。</a:t>
            </a:r>
            <a:endParaRPr lang="zh-CN" sz="1200"/>
          </a:p>
          <a:p>
            <a:pPr algn="l"/>
            <a:r>
              <a:rPr lang="zh-CN" sz="1200"/>
              <a:t>可以用 Anthropic + FIS 的类比：模型厂商提供底层智能，而 FIS 这类行业平台把 AI 能力落到具体业务系统和交付场景中；我们要做的是 CRM 领域的这层行业 Agent 基础设施。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这一页避免和 Part2 的路线图重复。Part2 的路线图是 5-8 月怎么交付，这一页讲平台能力怎么从内部验证走向外部化。</a:t>
            </a:r>
            <a:endParaRPr lang="zh-CN" sz="1200"/>
          </a:p>
          <a:p>
            <a:pPr algn="l"/>
            <a:r>
              <a:rPr lang="zh-CN" sz="1200"/>
              <a:t>第一步内部三线验证，证明平台能支撑真实业务 Agent；第二步平台能力沉淀，把经验变成 Runtime、Skill、评测、Trust Layer 等标准产品；第三步支持客户自建 Agent，让客户侧管理员、开发者、运营可以配置化构建；第四步生态伙伴扩展，通过 API/SDK/MCP 形成开放但可治理的生态边界。</a:t>
            </a:r>
            <a:endParaRPr lang="zh-CN" sz="1200"/>
          </a:p>
          <a:p>
            <a:pPr algn="l"/>
            <a:r>
              <a:rPr lang="zh-CN" sz="1200"/>
              <a:t>核心是从“项目成功”走向“平台可售卖、可开放、可生态化”。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这一页是未来工作的三条主线，不要展开太散。</a:t>
            </a:r>
            <a:endParaRPr lang="zh-CN" sz="1200"/>
          </a:p>
          <a:p>
            <a:pPr algn="l"/>
            <a:r>
              <a:rPr lang="zh-CN" sz="1200"/>
              <a:t>平台能力产品化，是把内部支撑过程中沉淀的 Runtime、原子能力、Prompt/Skill、评测和 Trust Layer 做成可开通、可计量、可运维的产品能力。</a:t>
            </a:r>
            <a:endParaRPr lang="zh-CN" sz="1200"/>
          </a:p>
          <a:p>
            <a:pPr algn="l"/>
            <a:r>
              <a:rPr lang="zh-CN" sz="1200"/>
              <a:t>业务/客户接入标准化，是让内部团队、终端客户、生态伙伴都能按同一套模板接入，降低规模交付成本。</a:t>
            </a:r>
            <a:endParaRPr lang="zh-CN" sz="1200"/>
          </a:p>
          <a:p>
            <a:pPr algn="l"/>
            <a:r>
              <a:rPr lang="zh-CN" sz="1200"/>
              <a:t>运营商业化体系化，是让平台投入产出可证明，包括复用率、接入周期、质量通过率、成本归因和资源点计量。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这一页展开前两条主线：能力产品化和接入标准化。</a:t>
            </a:r>
            <a:endParaRPr lang="zh-CN" sz="1200"/>
          </a:p>
          <a:p>
            <a:pPr algn="l"/>
            <a:r>
              <a:rPr lang="zh-CN" sz="1200"/>
              <a:t>能力产品化要回答“哪些能力可以被购买和复用”，比如 Runtime、原子能力、Prompt/Skill、评测与 Trust Layer。</a:t>
            </a:r>
            <a:endParaRPr lang="zh-CN" sz="1200"/>
          </a:p>
          <a:p>
            <a:pPr algn="l"/>
            <a:r>
              <a:rPr lang="zh-CN" sz="1200"/>
              <a:t>接入标准化要回答“怎么低成本规模交付”，流程包括场景定义、数据接入、Skill 契约、权限策略、评估集验收、灰度发布、线上观测与复盘。</a:t>
            </a:r>
            <a:endParaRPr lang="zh-CN" sz="1200"/>
          </a:p>
          <a:p>
            <a:pPr algn="l"/>
            <a:r>
              <a:rPr lang="zh-CN" sz="1200"/>
              <a:t>讲的时候可以强调：标准化不是为了限制业务，而是为了让内部业务、终端客户和生态伙伴都不用重新走弯路。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这一页展开第三条主线：运营商业化和生态开放。</a:t>
            </a:r>
            <a:endParaRPr lang="zh-CN" sz="1200"/>
          </a:p>
          <a:p>
            <a:pPr algn="l"/>
            <a:r>
              <a:rPr lang="zh-CN" sz="1200"/>
              <a:t>运营商业化要证明平台价值，包括原子能力复用率、新 Agent 接入周期、评估集质量通过率、模型成本归因。</a:t>
            </a:r>
            <a:endParaRPr lang="zh-CN" sz="1200"/>
          </a:p>
          <a:p>
            <a:pPr algn="l"/>
            <a:r>
              <a:rPr lang="zh-CN" sz="1200"/>
              <a:t>商业化基建包括资源计量、租户配额、ROI 证明和按业务线/租户/模型拆分消耗。</a:t>
            </a:r>
            <a:endParaRPr lang="zh-CN" sz="1200"/>
          </a:p>
          <a:p>
            <a:pPr algn="l"/>
            <a:r>
              <a:rPr lang="zh-CN" sz="1200"/>
              <a:t>生态开放则要关注 API/SDK、MCP、ISV 伙伴和客户自建应用，但开放的前提是鉴权、限流、审计、沙箱隔离和租户隔离。</a:t>
            </a:r>
            <a:endParaRPr lang="zh-CN" sz="1200"/>
          </a:p>
          <a:p>
            <a:pPr algn="l"/>
            <a:r>
              <a:rPr lang="zh-CN" sz="1200"/>
              <a:t>结论是：平台要能被证明价值，也要能被可靠使用。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第四部分讲团队怎么建设。这里不要只谈招人，而要谈组织模式、人才密度、工作方式和创新文化。</a:t>
            </a:r>
            <a:endParaRPr lang="zh-CN" sz="1200"/>
          </a:p>
          <a:p>
            <a:pPr algn="l"/>
            <a:r>
              <a:rPr lang="zh-CN" sz="1200"/>
              <a:t>AI Native 战队不是临时项目组，而是面向下一代 Agent 化产品形态的平台团队。</a:t>
            </a:r>
            <a:endParaRPr lang="zh-CN" sz="1200"/>
          </a:p>
          <a:p>
            <a:pPr algn="l"/>
            <a:r>
              <a:rPr lang="zh-CN" sz="1200"/>
              <a:t>团队建设目标有两个：一是能快速响应业务战役，二是能持续沉淀平台资产，避免长期停留在项目制交付。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这一页讲组织模式：平台小核心 + 场景共建。</a:t>
            </a:r>
            <a:endParaRPr lang="zh-CN" sz="1200"/>
          </a:p>
          <a:p>
            <a:pPr algn="l"/>
            <a:r>
              <a:rPr lang="zh-CN" sz="1200"/>
              <a:t>平台小核心负责 Runtime、原子能力、模型网关、Prompt/Skill、评测和 DevOps，对稳定性、复用性、可治理负责。</a:t>
            </a:r>
            <a:endParaRPr lang="zh-CN" sz="1200"/>
          </a:p>
          <a:p>
            <a:pPr algn="l"/>
            <a:r>
              <a:rPr lang="zh-CN" sz="1200"/>
              <a:t>业务团队负责场景、SOP、用户体验和客户反馈，对业务闭环和商业价值负责。</a:t>
            </a:r>
            <a:endParaRPr lang="zh-CN" sz="1200"/>
          </a:p>
          <a:p>
            <a:pPr algn="l"/>
            <a:r>
              <a:rPr lang="zh-CN" sz="1200"/>
              <a:t>语义层、Data、生态团队提供业务语义、数据 Pipeline、外部数据和生态资源。</a:t>
            </a:r>
            <a:endParaRPr lang="zh-CN" sz="1200"/>
          </a:p>
          <a:p>
            <a:pPr algn="l"/>
            <a:r>
              <a:rPr lang="zh-CN" sz="1200"/>
              <a:t>核心原则是能力下沉到平台、场景上浮给业务；平台不背业务 GMV，但必须背复用率、接入效率、质量基线和架构债。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这一页讲人才密度。AI Native 团队需要的不是单一岗位能力，而是能把不确定的 AI 问题转成工程确定性。</a:t>
            </a:r>
            <a:endParaRPr lang="zh-CN" sz="1200"/>
          </a:p>
          <a:p>
            <a:pPr algn="l"/>
            <a:r>
              <a:rPr lang="zh-CN" sz="1200"/>
              <a:t>系统型人才负责端到端链路，避免只看局部模块；产品化人才负责把一次业务交付抽象成平台能力；评测运营人才负责评估集、质量指标、客户反馈和成本归因；探索型人才负责快速验证新技术并沉淀资产。</a:t>
            </a:r>
            <a:endParaRPr lang="zh-CN" sz="1200"/>
          </a:p>
          <a:p>
            <a:pPr algn="l"/>
            <a:r>
              <a:rPr lang="zh-CN" sz="1200"/>
              <a:t>选拔和培养要从“岗位边界”转向“能力域负责”，从“谁实现需求”转向“谁做成平台能力”。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这一页是开发方式变革，是 Part4 里很关键的一页。</a:t>
            </a:r>
            <a:endParaRPr lang="zh-CN" sz="1200"/>
          </a:p>
          <a:p>
            <a:pPr algn="l"/>
            <a:r>
              <a:rPr lang="zh-CN" sz="1200"/>
              <a:t>我们的目标不是只用 AI 做代码补全，而是把 Tchub Agent Teams 用在自己的研发过程中，实现任务级提效。</a:t>
            </a:r>
            <a:endParaRPr lang="zh-CN" sz="1200"/>
          </a:p>
          <a:p>
            <a:pPr algn="l"/>
            <a:r>
              <a:rPr lang="zh-CN" sz="1200"/>
              <a:t>研发人员负责定义目标、边界和架构风险，Agent Teams 承接局部实现、用例生成、文档沉淀和初步修复。</a:t>
            </a:r>
            <a:endParaRPr lang="zh-CN" sz="1200"/>
          </a:p>
          <a:p>
            <a:pPr algn="l"/>
            <a:r>
              <a:rPr lang="zh-CN" sz="1200"/>
              <a:t>Tchub 作为上下文中枢，沉淀需求、设计、用例、评测和复盘，让每周迭代可以被追踪。</a:t>
            </a:r>
            <a:endParaRPr lang="zh-CN" sz="1200"/>
          </a:p>
          <a:p>
            <a:pPr algn="l"/>
            <a:r>
              <a:rPr lang="zh-CN" sz="1200"/>
              <a:t>讲的时候要强调：这不是把研发交给 AI，而是研发把控方向，AI 快速落地，评测和质量周报保障闭环。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这一页讲创新文化。AI Native 团队必须敢试快试，但不能把快速试错变成随意上线或一次性 Demo。</a:t>
            </a:r>
            <a:endParaRPr lang="zh-CN" sz="1200"/>
          </a:p>
          <a:p>
            <a:pPr algn="l"/>
            <a:r>
              <a:rPr lang="zh-CN" sz="1200"/>
              <a:t>所有创新都要有灰度边界、回滚策略、可观测指标和沉淀要求。</a:t>
            </a:r>
            <a:endParaRPr lang="zh-CN" sz="1200"/>
          </a:p>
          <a:p>
            <a:pPr algn="l"/>
            <a:r>
              <a:rPr lang="zh-CN" sz="1200"/>
              <a:t>跨界协作要把研发、产品、UX、评测、业务拉到同一个 Agent 体验闭环里，不能接口、数据、权限和评测各自为战。</a:t>
            </a:r>
            <a:endParaRPr lang="zh-CN" sz="1200"/>
          </a:p>
          <a:p>
            <a:pPr algn="l"/>
            <a:r>
              <a:rPr lang="zh-CN" sz="1200"/>
              <a:t>客户反馈也不能只留在单一业务线，必须进入平台问题池和评估集，形成平台级改进。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这一页讲团队变化，不是业务目标，而是组织能力的变化。</a:t>
            </a:r>
            <a:endParaRPr lang="zh-CN" sz="1200"/>
          </a:p>
          <a:p>
            <a:pPr algn="l"/>
            <a:r>
              <a:rPr lang="zh-CN" sz="1200"/>
              <a:t>从传统研发团队到 AI Native 型团队，变化体现在五个方面：组织形态从职能分工转向 Agent 闭环和能力域；工作方式从人工驱动转向人和 Agent Teams 协同；质量体系从上线前测试转向持续评测和回放；协作模式从平台接需求转向平台和业务共建；文化导向从交付功能转向探索未来但可控沉淀。</a:t>
            </a:r>
            <a:endParaRPr lang="zh-CN" sz="1200"/>
          </a:p>
          <a:p>
            <a:pPr algn="l"/>
            <a:r>
              <a:rPr lang="zh-CN" sz="1200"/>
              <a:t>最后落到一句话：真正的团队建设，是围绕 Agent 闭环持续创造平台能力。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第五部分讲需要的支持和协同重点。这里要站高一层，不只是提出问题，而是提出建设性机制。</a:t>
            </a:r>
            <a:endParaRPr lang="zh-CN" sz="1200"/>
          </a:p>
          <a:p>
            <a:pPr algn="l"/>
            <a:r>
              <a:rPr lang="zh-CN" sz="1200"/>
              <a:t>AI Native 平台要从内部支撑走向商业化平台能力，必须形成公司级共识，包括组织授权、协同机制、资源保障和商业化试点。</a:t>
            </a:r>
            <a:endParaRPr lang="zh-CN" sz="1200"/>
          </a:p>
          <a:p>
            <a:pPr algn="l"/>
            <a:r>
              <a:rPr lang="zh-CN" sz="1200"/>
              <a:t>这一章的基调是：我们不是要资源做更多项目，而是要机制保障平台能力能持续沉淀并服务业务、客户和生态。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这一页讲组织授权和协同机制。AI Native 平台横跨基础平台、业务智能、安全、数据和生态，如果边界不清，很容易被短期需求拉散。</a:t>
            </a:r>
            <a:endParaRPr lang="zh-CN" sz="1200"/>
          </a:p>
          <a:p>
            <a:pPr algn="l"/>
            <a:r>
              <a:rPr lang="zh-CN" sz="1200"/>
              <a:t>需要明确平台定位是跨多业务线的横向 Agent 基础设施，接入标准、Skill 契约、权限和评测必须统一。</a:t>
            </a:r>
            <a:endParaRPr lang="zh-CN" sz="1200"/>
          </a:p>
          <a:p>
            <a:pPr algn="l"/>
            <a:r>
              <a:rPr lang="zh-CN" sz="1200"/>
              <a:t>协同上，要和 aPaaS 定接口契约和边界评审；和语义/Data/生态共建接入规范和评估集；和三大智能业务周级共建、联合验收；和商业化/运营跑通计量、定价和价值证明；和安全/基础设施建立稳定性和合规保障。</a:t>
            </a:r>
            <a:endParaRPr lang="zh-CN" sz="1200"/>
          </a:p>
          <a:p>
            <a:pPr algn="l"/>
            <a:r>
              <a:rPr lang="zh-CN" sz="1200"/>
              <a:t>核心是把临时拉群变成接口契约、共建节奏、联合验收和问题闭环。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这一页讲资源和试点保障。面向 CRM 终端客户和生态伙伴开放，需要的不只是人力，而是模型资源、关键能力补强、标杆客户试点和商业化机制。</a:t>
            </a:r>
            <a:endParaRPr lang="zh-CN" sz="1200"/>
          </a:p>
          <a:p>
            <a:pPr algn="l"/>
            <a:r>
              <a:rPr lang="zh-CN" sz="1200"/>
              <a:t>模型与基建预算要保障平台稳定性和成本可控；关键能力补强要聚焦评测工程、数据运营、平台商业化产品和 Runtime 架构；标杆客户试点要让平台侧直接介入质量复盘；商业化机制要同步验证资源点、租户配额、独立售卖和增值售卖包装。</a:t>
            </a:r>
            <a:endParaRPr lang="zh-CN" sz="1200"/>
          </a:p>
          <a:p>
            <a:pPr algn="l"/>
            <a:r>
              <a:rPr lang="zh-CN" sz="1200"/>
              <a:t>可以强调：商业化不能等平台完全成熟后再做，要在试点中同步验证价值证明和付费机制。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sz="1200"/>
              <a:t>收尾时建议回到主线：AI Native 战队的定位，是建设下一代 AI CRM 的 Agent 平台和智能化底座。</a:t>
            </a:r>
            <a:endParaRPr lang="zh-CN" sz="1200"/>
          </a:p>
          <a:p>
            <a:pPr algn="l"/>
            <a:r>
              <a:rPr lang="zh-CN" sz="1200"/>
              <a:t>短期 5-8 月通过销售、渠道、服务三线并行打穿业务闭环；中期把能力沉淀为可复用、可计量、可治理的平台产品；长期支持客户自建 Agent 和生态伙伴扩展。</a:t>
            </a:r>
            <a:endParaRPr lang="zh-CN" sz="1200"/>
          </a:p>
          <a:p>
            <a:pPr algn="l"/>
            <a:r>
              <a:rPr lang="zh-CN" sz="1200"/>
              <a:t>最后可以邀请问题聚焦在三类方向：平台边界、短期战役、组织协同与资源支持。</a:t>
            </a:r>
            <a:endParaRPr lang="zh-CN" sz="12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l="-390" r="-39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F172A">
                  <a:alpha val="40000"/>
                </a:srgbClr>
              </a:gs>
              <a:gs pos="100000">
                <a:srgbClr val="0F172A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2540000" y="-2540000"/>
            <a:ext cx="7620000" cy="7620000"/>
          </a:xfrm>
          <a:prstGeom prst="ellipse">
            <a:avLst/>
          </a:prstGeom>
          <a:solidFill>
            <a:srgbClr val="38BDF8">
              <a:alpha val="4000"/>
            </a:srgbClr>
          </a:solidFill>
          <a:ln w="12700" cap="flat" cmpd="sng">
            <a:solidFill>
              <a:srgbClr val="38BDF8">
                <a:alpha val="1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350000" y="1270000"/>
            <a:ext cx="8890000" cy="8890000"/>
          </a:xfrm>
          <a:prstGeom prst="ellipse">
            <a:avLst/>
          </a:prstGeom>
          <a:solidFill>
            <a:srgbClr val="A855F7">
              <a:alpha val="3000"/>
            </a:srgbClr>
          </a:solidFill>
          <a:ln w="12700" cap="flat" cmpd="sng">
            <a:solidFill>
              <a:srgbClr val="A855F7">
                <a:alpha val="1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35000" y="2540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AI Native 战队汇报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810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定位 · 当前重心 · 未来方向 · 团队建设 · 协同支持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5334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汇报人：刘超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21932" y="3883961"/>
            <a:ext cx="44634" cy="360077"/>
          </a:xfrm>
          <a:prstGeom prst="roundRect">
            <a:avLst>
              <a:gd name="adj" fmla="val 8536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40000" y="-2540000"/>
            <a:ext cx="7620000" cy="7620000"/>
          </a:xfrm>
          <a:prstGeom prst="ellipse">
            <a:avLst/>
          </a:prstGeom>
          <a:solidFill>
            <a:srgbClr val="38BDF8">
              <a:alpha val="4000"/>
            </a:srgbClr>
          </a:solidFill>
          <a:ln w="12700" cap="flat" cmpd="sng">
            <a:solidFill>
              <a:srgbClr val="38BDF8">
                <a:alpha val="1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0" y="1270000"/>
            <a:ext cx="8890000" cy="8890000"/>
          </a:xfrm>
          <a:prstGeom prst="ellipse">
            <a:avLst/>
          </a:prstGeom>
          <a:solidFill>
            <a:srgbClr val="A855F7">
              <a:alpha val="3000"/>
            </a:srgbClr>
          </a:solidFill>
          <a:ln w="12700" cap="flat" cmpd="sng">
            <a:solidFill>
              <a:srgbClr val="A855F7">
                <a:alpha val="1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PART 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286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560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战队定位、核心价值及团队成员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37220" y="3556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26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建设企业级 Agent 运行底座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318000"/>
            <a:ext cx="990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AI Native 平台不是单点功能的堆砌，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而是面向公司下一代智能化产品形态的稳定、可控的基础设施。</a:t>
            </a:r>
            <a:endParaRPr lang="en-US" sz="16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16000" y="5461000"/>
            <a:ext cx="9652000" cy="762000"/>
          </a:xfrm>
          <a:prstGeom prst="roundRect">
            <a:avLst>
              <a:gd name="adj" fmla="val 10000"/>
            </a:avLst>
          </a:prstGeom>
          <a:solidFill>
            <a:srgbClr val="38BDF8">
              <a:alpha val="1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基础平台守底盘，业务应用强运营：明确自身边界与价值，用底层平台支撑前线业务。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556000"/>
            <a:ext cx="50800" cy="508000"/>
          </a:xfrm>
          <a:prstGeom prst="roundRect">
            <a:avLst>
              <a:gd name="adj" fmla="val 7500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为什么必须建设 AI Native 平台？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这不是概念创新，而是从“单点能力”走向“深度执行，自主执行”后，规模化带来的必然形态演进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794000"/>
            <a:ext cx="4826000" cy="1853538"/>
          </a:xfrm>
          <a:prstGeom prst="roundRect">
            <a:avLst>
              <a:gd name="adj" fmla="val 4111"/>
            </a:avLst>
          </a:prstGeom>
          <a:solidFill>
            <a:srgbClr val="1E293B">
              <a:alpha val="100000"/>
            </a:srgbClr>
          </a:solidFill>
          <a:ln w="12700" cap="flat" cmpd="sng">
            <a:solidFill>
              <a:srgbClr val="6366F1">
                <a:alpha val="5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 indent="0" algn="l">
              <a:lnSpc>
                <a:spcPct val="108000"/>
              </a:lnSpc>
              <a:spcBef>
                <a:spcPts val="800"/>
              </a:spcBef>
              <a:defRPr/>
            </a:pPr>
            <a:r>
              <a:rPr lang="en-US" sz="20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AI 辅助阶段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6366F1"/>
                </a:solidFill>
                <a:latin typeface="Noto Sans SC"/>
                <a:ea typeface="Noto Sans SC"/>
                <a:cs typeface="Noto Sans SC"/>
                <a:sym typeface="Noto Sans SC"/>
              </a:rPr>
              <a:t>单点生成 / 问答 / 摘要</a:t>
            </a:r>
            <a:endParaRPr lang="en-US" sz="1400" b="0" i="0" u="none" strike="noStrike">
              <a:solidFill>
                <a:srgbClr val="6366F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  <a:spcBef>
                <a:spcPts val="500"/>
              </a:spcBef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核心关注：能不能生成、能不能问答</a:t>
            </a:r>
            <a:endParaRPr lang="en-US" sz="14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  <a:spcBef>
                <a:spcPts val="500"/>
              </a:spcBef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核心能力：LLM 接入，Prompt 工程</a:t>
            </a:r>
            <a:endParaRPr lang="en-US" sz="14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4571338"/>
            <a:ext cx="4826000" cy="76200"/>
          </a:xfrm>
          <a:prstGeom prst="roundRect">
            <a:avLst>
              <a:gd name="adj" fmla="val 33333"/>
            </a:avLst>
          </a:prstGeom>
          <a:solidFill>
            <a:srgbClr val="6366F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40000" lnSpcReduction="20000"/>
          </a:bodyPr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71500" y="2603500"/>
            <a:ext cx="457200" cy="457200"/>
          </a:xfrm>
          <a:prstGeom prst="ellipse">
            <a:avLst/>
          </a:prstGeom>
          <a:solidFill>
            <a:srgbClr val="6366F1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0"/>
              </a:srgbClr>
            </a:outerShdw>
          </a:effectLst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604000" y="2794000"/>
            <a:ext cx="4826000" cy="1853538"/>
          </a:xfrm>
          <a:prstGeom prst="roundRect">
            <a:avLst>
              <a:gd name="adj" fmla="val 4111"/>
            </a:avLst>
          </a:prstGeom>
          <a:solidFill>
            <a:srgbClr val="1D4ED8">
              <a:alpha val="20000"/>
            </a:srgbClr>
          </a:solidFill>
          <a:ln w="25400" cap="flat" cmpd="sng">
            <a:solidFill>
              <a:srgbClr val="38BDF8">
                <a:alpha val="80000"/>
              </a:srgbClr>
            </a:solidFill>
            <a:prstDash val="solid"/>
            <a:round/>
          </a:ln>
          <a:effectLst>
            <a:outerShdw blurRad="203200" dist="50800" dir="2700000" algn="tl" rotWithShape="0">
              <a:srgbClr val="38BDF8">
                <a:alpha val="30000"/>
              </a:srgbClr>
            </a:outerShdw>
          </a:effectLst>
        </p:spPr>
        <p:txBody>
          <a:bodyPr vert="horz" wrap="square" lIns="254000" tIns="254000" rIns="254000" bIns="0" rtlCol="0" anchor="t" anchorCtr="0">
            <a:normAutofit/>
          </a:bodyPr>
          <a:lstStyle/>
          <a:p>
            <a:pPr indent="0" algn="l">
              <a:lnSpc>
                <a:spcPct val="108000"/>
              </a:lnSpc>
              <a:spcBef>
                <a:spcPts val="800"/>
              </a:spcBef>
              <a:defRPr/>
            </a:pPr>
            <a:r>
              <a:rPr lang="en-US" sz="20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AI Native 平台阶段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业务系统持续自主执行</a:t>
            </a:r>
            <a:endParaRPr lang="en-US" sz="1400" b="0" i="0" u="none" strike="noStrike">
              <a:solidFill>
                <a:srgbClr val="38BDF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  <a:spcBef>
                <a:spcPts val="500"/>
              </a:spcBef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核心关注：能不能安全、稳定、低成本规模化</a:t>
            </a:r>
            <a:endParaRPr lang="en-US" sz="14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  <a:spcBef>
                <a:spcPts val="500"/>
              </a:spcBef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核心能力：自主执行，统一治理</a:t>
            </a:r>
            <a:endParaRPr lang="en-US" sz="14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604000" y="4571338"/>
            <a:ext cx="4826000" cy="76200"/>
          </a:xfrm>
          <a:prstGeom prst="roundRect">
            <a:avLst>
              <a:gd name="adj" fmla="val 33333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40000" lnSpcReduction="20000"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413500" y="2603500"/>
            <a:ext cx="457200" cy="457200"/>
          </a:xfrm>
          <a:prstGeom prst="ellipse">
            <a:avLst/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0"/>
              </a:srgbClr>
            </a:outerShdw>
          </a:effectLst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905500" y="3429000"/>
            <a:ext cx="381000" cy="381000"/>
          </a:xfrm>
          <a:prstGeom prst="rightArrow">
            <a:avLst/>
          </a:prstGeom>
          <a:solidFill>
            <a:srgbClr val="38BDF8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5243606"/>
            <a:ext cx="10668000" cy="825500"/>
          </a:xfrm>
          <a:prstGeom prst="roundRect">
            <a:avLst>
              <a:gd name="adj" fmla="val 9230"/>
            </a:avLst>
          </a:prstGeom>
          <a:gradFill rotWithShape="1">
            <a:gsLst>
              <a:gs pos="0">
                <a:srgbClr val="EF4444">
                  <a:alpha val="15000"/>
                </a:srgbClr>
              </a:gs>
              <a:gs pos="100000">
                <a:srgbClr val="1E293B">
                  <a:alpha val="80000"/>
                </a:srgbClr>
              </a:gs>
            </a:gsLst>
            <a:lin ang="0"/>
          </a:gradFill>
          <a:ln w="12700" cap="flat" cmpd="sng">
            <a:solidFill>
              <a:srgbClr val="EF4444">
                <a:alpha val="50000"/>
              </a:srgbClr>
            </a:solidFill>
            <a:prstDash val="solid"/>
            <a:round/>
          </a:ln>
        </p:spPr>
        <p:txBody>
          <a:bodyPr vert="horz" wrap="square" lIns="254000" tIns="0" rIns="25400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此时如果不做统一平台：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各业务线重复造轮子，必然导致模型成本不可控、权限不可控、效果不可证、底层架构债暴增。</a:t>
            </a:r>
            <a:endParaRPr lang="en-US" sz="14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与通用 Agent / Cloud Agent 类产品的核心差异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我们不做通用的跨工具自动化外壳，我们做企业业务系统里的</a:t>
            </a:r>
            <a:r>
              <a:rPr lang="en-US" sz="1800" b="0" i="0" u="none" strike="noStrike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rPr>
              <a:t>可信执行平台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524000" y="2159000"/>
            <a:ext cx="3810000" cy="635000"/>
          </a:xfrm>
          <a:prstGeom prst="roundRect">
            <a:avLst>
              <a:gd name="adj" fmla="val 12000"/>
            </a:avLst>
          </a:prstGeom>
          <a:solidFill>
            <a:srgbClr val="4755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通用 Agent / Cloud Agent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842000" y="2222500"/>
            <a:ext cx="508000" cy="508000"/>
          </a:xfrm>
          <a:prstGeom prst="ellipse">
            <a:avLst/>
          </a:prstGeom>
          <a:solidFill>
            <a:srgbClr val="0F172A">
              <a:alpha val="100000"/>
            </a:srgbClr>
          </a:solidFill>
          <a:ln w="25400" cap="flat" cmpd="sng">
            <a:solidFill>
              <a:srgbClr val="64748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VS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858000" y="2159000"/>
            <a:ext cx="3810000" cy="635000"/>
          </a:xfrm>
          <a:prstGeom prst="roundRect">
            <a:avLst>
              <a:gd name="adj" fmla="val 12000"/>
            </a:avLst>
          </a:prstGeom>
          <a:solidFill>
            <a:srgbClr val="1D4ED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我们的 AI Native 平台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524000" y="3048000"/>
            <a:ext cx="3810000" cy="635000"/>
          </a:xfrm>
          <a:prstGeom prst="roundRect">
            <a:avLst>
              <a:gd name="adj" fmla="val 800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通用自主助理 / AI Worker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588000" y="3175000"/>
            <a:ext cx="1016000" cy="381000"/>
          </a:xfrm>
          <a:prstGeom prst="roundRect">
            <a:avLst>
              <a:gd name="adj" fmla="val 50000"/>
            </a:avLst>
          </a:prstGeom>
          <a:solidFill>
            <a:srgbClr val="0F172A">
              <a:alpha val="100000"/>
            </a:srgbClr>
          </a:solidFill>
          <a:ln w="12700" cap="flat" cmpd="sng">
            <a:solidFill>
              <a:srgbClr val="334155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8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产品定位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858000" y="3048000"/>
            <a:ext cx="3810000" cy="635000"/>
          </a:xfrm>
          <a:prstGeom prst="roundRect">
            <a:avLst>
              <a:gd name="adj" fmla="val 8000"/>
            </a:avLst>
          </a:prstGeom>
          <a:solidFill>
            <a:srgbClr val="1D4ED8">
              <a:alpha val="15000"/>
            </a:srgbClr>
          </a:solidFill>
          <a:ln w="12700" cap="flat" cmpd="sng">
            <a:solidFill>
              <a:srgbClr val="1D4ED8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公司底层的统一 AI 能力底座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4774">
            <a:off x="1521464" y="3803650"/>
            <a:ext cx="914402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4155">
                <a:alpha val="5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524000" y="3937000"/>
            <a:ext cx="3810000" cy="635000"/>
          </a:xfrm>
          <a:prstGeom prst="roundRect">
            <a:avLst>
              <a:gd name="adj" fmla="val 800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外部工具、SaaS、网页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588000" y="4064000"/>
            <a:ext cx="1016000" cy="381000"/>
          </a:xfrm>
          <a:prstGeom prst="roundRect">
            <a:avLst>
              <a:gd name="adj" fmla="val 50000"/>
            </a:avLst>
          </a:prstGeom>
          <a:solidFill>
            <a:srgbClr val="0F172A">
              <a:alpha val="100000"/>
            </a:srgbClr>
          </a:solidFill>
          <a:ln w="12700" cap="flat" cmpd="sng">
            <a:solidFill>
              <a:srgbClr val="334155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8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执行对象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858000" y="3937000"/>
            <a:ext cx="3810000" cy="635000"/>
          </a:xfrm>
          <a:prstGeom prst="roundRect">
            <a:avLst>
              <a:gd name="adj" fmla="val 8000"/>
            </a:avLst>
          </a:prstGeom>
          <a:solidFill>
            <a:srgbClr val="1D4ED8">
              <a:alpha val="15000"/>
            </a:srgbClr>
          </a:solidFill>
          <a:ln w="12700" cap="flat" cmpd="sng">
            <a:solidFill>
              <a:srgbClr val="1D4ED8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CRM 业务对象、业务流、aPaaS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4774">
            <a:off x="1521464" y="4692650"/>
            <a:ext cx="914402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4155">
                <a:alpha val="5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1524000" y="4826000"/>
            <a:ext cx="3810000" cy="635000"/>
          </a:xfrm>
          <a:prstGeom prst="roundRect">
            <a:avLst>
              <a:gd name="adj" fmla="val 800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靠临时工具连接和外部注入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588000" y="4953000"/>
            <a:ext cx="1016000" cy="381000"/>
          </a:xfrm>
          <a:prstGeom prst="roundRect">
            <a:avLst>
              <a:gd name="adj" fmla="val 50000"/>
            </a:avLst>
          </a:prstGeom>
          <a:solidFill>
            <a:srgbClr val="0F172A">
              <a:alpha val="100000"/>
            </a:srgbClr>
          </a:solidFill>
          <a:ln w="12700" cap="flat" cmpd="sng">
            <a:solidFill>
              <a:srgbClr val="334155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8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数据理解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858000" y="4826000"/>
            <a:ext cx="3810000" cy="635000"/>
          </a:xfrm>
          <a:prstGeom prst="roundRect">
            <a:avLst>
              <a:gd name="adj" fmla="val 8000"/>
            </a:avLst>
          </a:prstGeom>
          <a:solidFill>
            <a:srgbClr val="1D4ED8">
              <a:alpha val="15000"/>
            </a:srgbClr>
          </a:solidFill>
          <a:ln w="12700" cap="flat" cmpd="sng">
            <a:solidFill>
              <a:srgbClr val="1D4ED8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原生理解实体/字段/关系/业务类型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4774">
            <a:off x="1521464" y="5581650"/>
            <a:ext cx="914402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4155">
                <a:alpha val="5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1524000" y="5715000"/>
            <a:ext cx="3810000" cy="635000"/>
          </a:xfrm>
          <a:prstGeom prst="roundRect">
            <a:avLst>
              <a:gd name="adj" fmla="val 800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由工具授权或容器粗粒度隔离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588000" y="5842000"/>
            <a:ext cx="1016000" cy="381000"/>
          </a:xfrm>
          <a:prstGeom prst="roundRect">
            <a:avLst>
              <a:gd name="adj" fmla="val 50000"/>
            </a:avLst>
          </a:prstGeom>
          <a:solidFill>
            <a:srgbClr val="0F172A">
              <a:alpha val="100000"/>
            </a:srgbClr>
          </a:solidFill>
          <a:ln w="12700" cap="flat" cmpd="sng">
            <a:solidFill>
              <a:srgbClr val="334155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8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权限边界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858000" y="5715000"/>
            <a:ext cx="3810000" cy="635000"/>
          </a:xfrm>
          <a:prstGeom prst="roundRect">
            <a:avLst>
              <a:gd name="adj" fmla="val 8000"/>
            </a:avLst>
          </a:prstGeom>
          <a:solidFill>
            <a:srgbClr val="1D4ED8">
              <a:alpha val="15000"/>
            </a:srgbClr>
          </a:solidFill>
          <a:ln w="12700" cap="flat" cmpd="sng">
            <a:solidFill>
              <a:srgbClr val="1D4ED8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继承 aPaaS 行级权限与租户隔离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" y="508000"/>
            <a:ext cx="144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270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Agent、业务团队与 aPaaS 的协作职责边界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89000" y="1143000"/>
            <a:ext cx="144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Agent 平台不替代业务，也不替代 aPaaS，而是将大模型转化为可治理、可接入的智能执行平台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4436923" y="1905000"/>
            <a:ext cx="3099551" cy="3810000"/>
          </a:xfrm>
          <a:prstGeom prst="roundRect">
            <a:avLst>
              <a:gd name="adj" fmla="val 2458"/>
            </a:avLst>
          </a:prstGeom>
          <a:solidFill>
            <a:srgbClr val="1E293B">
              <a:alpha val="40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4436923" y="1905000"/>
            <a:ext cx="3099551" cy="635000"/>
          </a:xfrm>
          <a:prstGeom prst="roundRect">
            <a:avLst>
              <a:gd name="adj" fmla="val 12000"/>
            </a:avLst>
          </a:prstGeom>
          <a:solidFill>
            <a:srgbClr val="8B5CF6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Native 平台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523021" y="2667000"/>
            <a:ext cx="2927354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 lnSpcReduction="10000"/>
          </a:bodyPr>
          <a:lstStyle/>
          <a:p>
            <a:pPr indent="0" algn="l">
              <a:lnSpc>
                <a:spcPct val="117000"/>
              </a:lnSpc>
              <a:spcBef>
                <a:spcPts val="500"/>
              </a:spcBef>
              <a:defRPr/>
            </a:pPr>
            <a:r>
              <a:rPr lang="en-US" sz="1400" b="1" i="0" u="none" strike="noStrike">
                <a:solidFill>
                  <a:srgbClr val="C4B5F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核心职责：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500"/>
              </a:spcBef>
            </a:pPr>
            <a:r>
              <a:rPr lang="en-US" sz="14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· Agent Runtime、模型网关</a:t>
            </a:r>
            <a:endParaRPr lang="en-US" sz="1400" b="0" i="0" u="none" strike="noStrike">
              <a:solidFill>
                <a:srgbClr val="E2E8F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200"/>
              </a:spcBef>
            </a:pPr>
            <a:r>
              <a:rPr lang="en-US" sz="14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· Tool / Skill / MCP 接入规范</a:t>
            </a:r>
            <a:endParaRPr lang="en-US" sz="1400" b="0" i="0" u="none" strike="noStrike">
              <a:solidFill>
                <a:srgbClr val="E2E8F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200"/>
              </a:spcBef>
            </a:pPr>
            <a:r>
              <a:rPr lang="en-US" sz="14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· Prompt / Skill 版本治理</a:t>
            </a:r>
            <a:endParaRPr lang="en-US" sz="1400" b="0" i="0" u="none" strike="noStrike">
              <a:solidFill>
                <a:srgbClr val="E2E8F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200"/>
              </a:spcBef>
            </a:pPr>
            <a:r>
              <a:rPr lang="en-US" sz="14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· 记忆、评测、Tracing、Trust Layer</a:t>
            </a:r>
            <a:endParaRPr lang="en-US" sz="1400" b="0" i="0" u="none" strike="noStrike">
              <a:solidFill>
                <a:srgbClr val="E2E8F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200"/>
              </a:spcBef>
            </a:pPr>
            <a:r>
              <a:rPr lang="en-US" sz="14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· AG-UI 前端交互规范</a:t>
            </a:r>
            <a:endParaRPr lang="en-US" sz="1400" b="0" i="0" u="none" strike="noStrike">
              <a:solidFill>
                <a:srgbClr val="E2E8F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23021" y="4826000"/>
            <a:ext cx="2927354" cy="762000"/>
          </a:xfrm>
          <a:prstGeom prst="roundRect">
            <a:avLst>
              <a:gd name="adj" fmla="val 6666"/>
            </a:avLst>
          </a:prstGeom>
          <a:solidFill>
            <a:srgbClr val="EF4444">
              <a:alpha val="1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127000" tIns="101600" rIns="127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CA5A5"/>
                </a:solidFill>
                <a:latin typeface="Noto Sans SC"/>
                <a:ea typeface="Noto Sans SC"/>
                <a:cs typeface="Noto Sans SC"/>
                <a:sym typeface="Noto Sans SC"/>
              </a:rPr>
              <a:t>边界：</a:t>
            </a:r>
            <a:r>
              <a:rPr lang="en-US" sz="1200" b="0" i="0" u="none" strike="noStrike">
                <a:solidFill>
                  <a:srgbClr val="FCA5A5"/>
                </a:solidFill>
                <a:latin typeface="Noto Sans SC"/>
                <a:ea typeface="Noto Sans SC"/>
                <a:cs typeface="Noto Sans SC"/>
                <a:sym typeface="Noto Sans SC"/>
              </a:rPr>
              <a:t>不承接每个业务场景的无限定制逻辑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219273" y="1905000"/>
            <a:ext cx="3099551" cy="3810000"/>
          </a:xfrm>
          <a:prstGeom prst="roundRect">
            <a:avLst>
              <a:gd name="adj" fmla="val 2458"/>
            </a:avLst>
          </a:prstGeom>
          <a:solidFill>
            <a:srgbClr val="1E293B">
              <a:alpha val="4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219273" y="1905000"/>
            <a:ext cx="3099551" cy="635000"/>
          </a:xfrm>
          <a:prstGeom prst="roundRect">
            <a:avLst>
              <a:gd name="adj" fmla="val 12000"/>
            </a:avLst>
          </a:prstGeom>
          <a:solidFill>
            <a:srgbClr val="38BDF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Agent 业务团队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305372" y="2667000"/>
            <a:ext cx="2927354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7000"/>
              </a:lnSpc>
              <a:spcBef>
                <a:spcPts val="500"/>
              </a:spcBef>
              <a:defRPr/>
            </a:pPr>
            <a:r>
              <a:rPr lang="en-US" sz="1400" b="1" i="0" u="none" strike="noStrike">
                <a:solidFill>
                  <a:srgbClr val="7DD3FC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核心职责：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500"/>
              </a:spcBef>
            </a:pPr>
            <a:r>
              <a:rPr lang="en-US" sz="14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· 定义具体业务场景与目标</a:t>
            </a:r>
            <a:endParaRPr lang="en-US" sz="1400" b="0" i="0" u="none" strike="noStrike">
              <a:solidFill>
                <a:srgbClr val="E2E8F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200"/>
              </a:spcBef>
            </a:pPr>
            <a:r>
              <a:rPr lang="en-US" sz="14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· 设计人设、SOP、业务 Prompt</a:t>
            </a:r>
            <a:endParaRPr lang="en-US" sz="1400" b="0" i="0" u="none" strike="noStrike">
              <a:solidFill>
                <a:srgbClr val="E2E8F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200"/>
              </a:spcBef>
            </a:pPr>
            <a:r>
              <a:rPr lang="en-US" sz="14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· 提供领域业务 API / Skill</a:t>
            </a:r>
            <a:endParaRPr lang="en-US" sz="1400" b="0" i="0" u="none" strike="noStrike">
              <a:solidFill>
                <a:srgbClr val="E2E8F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200"/>
              </a:spcBef>
            </a:pPr>
            <a:r>
              <a:rPr lang="en-US" sz="14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· 沉淀 Golden Data (领域语料)</a:t>
            </a:r>
            <a:endParaRPr lang="en-US" sz="1400" b="0" i="0" u="none" strike="noStrike">
              <a:solidFill>
                <a:srgbClr val="E2E8F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200"/>
              </a:spcBef>
            </a:pPr>
            <a:r>
              <a:rPr lang="en-US" sz="14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· 业务效果验收与领域调优</a:t>
            </a:r>
            <a:endParaRPr lang="en-US" sz="1400" b="0" i="0" u="none" strike="noStrike">
              <a:solidFill>
                <a:srgbClr val="E2E8F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305372" y="4826000"/>
            <a:ext cx="2927354" cy="762000"/>
          </a:xfrm>
          <a:prstGeom prst="roundRect">
            <a:avLst>
              <a:gd name="adj" fmla="val 6666"/>
            </a:avLst>
          </a:prstGeom>
          <a:solidFill>
            <a:srgbClr val="EF4444">
              <a:alpha val="1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127000" tIns="101600" rIns="127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CA5A5"/>
                </a:solidFill>
                <a:latin typeface="Noto Sans SC"/>
                <a:ea typeface="Noto Sans SC"/>
                <a:cs typeface="Noto Sans SC"/>
                <a:sym typeface="Noto Sans SC"/>
              </a:rPr>
              <a:t>边界：</a:t>
            </a:r>
            <a:r>
              <a:rPr lang="en-US" sz="1200" b="0" i="0" u="none" strike="noStrike">
                <a:solidFill>
                  <a:srgbClr val="FCA5A5"/>
                </a:solidFill>
                <a:latin typeface="Noto Sans SC"/>
                <a:ea typeface="Noto Sans SC"/>
                <a:cs typeface="Noto Sans SC"/>
                <a:sym typeface="Noto Sans SC"/>
              </a:rPr>
              <a:t>不重复建设底层 Agent 引擎、模型网关、评测治理和安全链路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40670" y="1905000"/>
            <a:ext cx="3099551" cy="3810000"/>
          </a:xfrm>
          <a:prstGeom prst="roundRect">
            <a:avLst>
              <a:gd name="adj" fmla="val 2458"/>
            </a:avLst>
          </a:prstGeom>
          <a:solidFill>
            <a:srgbClr val="1E293B">
              <a:alpha val="4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40670" y="1905000"/>
            <a:ext cx="3099551" cy="635000"/>
          </a:xfrm>
          <a:prstGeom prst="roundRect">
            <a:avLst>
              <a:gd name="adj" fmla="val 12000"/>
            </a:avLst>
          </a:prstGeom>
          <a:solidFill>
            <a:srgbClr val="10B981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aPaaS / CRM 底座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26769" y="2667000"/>
            <a:ext cx="2927354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7000"/>
              </a:lnSpc>
              <a:spcBef>
                <a:spcPts val="500"/>
              </a:spcBef>
              <a:defRPr/>
            </a:pPr>
            <a:r>
              <a:rPr lang="en-US" sz="1400" b="1" i="0" u="none" strike="noStrike">
                <a:solidFill>
                  <a:srgbClr val="6EE7B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核心职责：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500"/>
              </a:spcBef>
            </a:pPr>
            <a:r>
              <a:rPr lang="en-US" sz="14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· 元数据与业务对象存储</a:t>
            </a:r>
            <a:endParaRPr lang="en-US" sz="1400" b="0" i="0" u="none" strike="noStrike">
              <a:solidFill>
                <a:srgbClr val="E2E8F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200"/>
              </a:spcBef>
            </a:pPr>
            <a:r>
              <a:rPr lang="en-US" sz="14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· 业务数据一致性保障</a:t>
            </a:r>
            <a:endParaRPr lang="en-US" sz="1400" b="0" i="0" u="none" strike="noStrike">
              <a:solidFill>
                <a:srgbClr val="E2E8F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200"/>
              </a:spcBef>
            </a:pPr>
            <a:r>
              <a:rPr lang="en-US" sz="14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· XOQL 查询与数据执行</a:t>
            </a:r>
            <a:endParaRPr lang="en-US" sz="1400" b="0" i="0" u="none" strike="noStrike">
              <a:solidFill>
                <a:srgbClr val="E2E8F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200"/>
              </a:spcBef>
            </a:pPr>
            <a:r>
              <a:rPr lang="en-US" sz="14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· RBAC 权限与访问控制</a:t>
            </a:r>
            <a:endParaRPr lang="en-US" sz="1400" b="0" i="0" u="none" strike="noStrike">
              <a:solidFill>
                <a:srgbClr val="E2E8F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200"/>
              </a:spcBef>
            </a:pPr>
            <a:r>
              <a:rPr lang="en-US" sz="14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· 标准化工作流引擎与租户隔离</a:t>
            </a:r>
            <a:endParaRPr lang="en-US" sz="1400" b="0" i="0" u="none" strike="noStrike">
              <a:solidFill>
                <a:srgbClr val="E2E8F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26769" y="4826000"/>
            <a:ext cx="2927354" cy="762000"/>
          </a:xfrm>
          <a:prstGeom prst="roundRect">
            <a:avLst>
              <a:gd name="adj" fmla="val 6666"/>
            </a:avLst>
          </a:prstGeom>
          <a:solidFill>
            <a:srgbClr val="EF4444">
              <a:alpha val="1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127000" tIns="101600" rIns="12700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CA5A5"/>
                </a:solidFill>
                <a:latin typeface="Noto Sans SC"/>
                <a:ea typeface="Noto Sans SC"/>
                <a:cs typeface="Noto Sans SC"/>
                <a:sym typeface="Noto Sans SC"/>
              </a:rPr>
              <a:t>边界：</a:t>
            </a:r>
            <a:r>
              <a:rPr lang="en-US" sz="1200" b="0" i="0" u="none" strike="noStrike">
                <a:solidFill>
                  <a:srgbClr val="FCA5A5"/>
                </a:solidFill>
                <a:latin typeface="Noto Sans SC"/>
                <a:ea typeface="Noto Sans SC"/>
                <a:cs typeface="Noto Sans SC"/>
                <a:sym typeface="Noto Sans SC"/>
              </a:rPr>
              <a:t>不直接承担智能决策、意图理解和多步任务的智能规划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40670" y="5969000"/>
            <a:ext cx="3099551" cy="508000"/>
          </a:xfrm>
          <a:prstGeom prst="roundRect">
            <a:avLst>
              <a:gd name="adj" fmla="val 1500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94A3B8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让执行正确、可信、可审计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436923" y="5969000"/>
            <a:ext cx="3099551" cy="508000"/>
          </a:xfrm>
          <a:prstGeom prst="roundRect">
            <a:avLst>
              <a:gd name="adj" fmla="val 1500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94A3B8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让 Agent 安全、稳定、低成本地跑起来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219273" y="5969000"/>
            <a:ext cx="3099551" cy="508000"/>
          </a:xfrm>
          <a:prstGeom prst="roundRect">
            <a:avLst>
              <a:gd name="adj" fmla="val 1500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94A3B8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让 Agent 在场景里真正有用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310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AI Native 战队战略定位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35000" y="1360004"/>
            <a:ext cx="10922000" cy="762000"/>
          </a:xfrm>
          <a:prstGeom prst="roundRect">
            <a:avLst>
              <a:gd name="adj" fmla="val 13333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381000" tIns="0" rIns="381000" bIns="0" rtlCol="0" anchor="ctr" anchorCtr="0">
            <a:norm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AI Native 战队不是单点 AI 应用交付团队，而是在平台与业务之上，打造</a:t>
            </a:r>
            <a:r>
              <a:rPr lang="en-US" sz="1600" b="1" i="0" u="none" strike="noStrike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rPr>
              <a:t>下一代 AI CRM 的 Agent 平台、原子能力和智能化产品底座</a:t>
            </a:r>
            <a:r>
              <a:rPr lang="en-US" sz="1600" b="0" i="0" u="none" strike="noStrike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rPr>
              <a:t>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" y="2984500"/>
            <a:ext cx="2794000" cy="1524000"/>
          </a:xfrm>
          <a:prstGeom prst="roundRect">
            <a:avLst>
              <a:gd name="adj" fmla="val 6666"/>
            </a:avLst>
          </a:prstGeom>
          <a:solidFill>
            <a:srgbClr val="1E293B">
              <a:alpha val="40000"/>
            </a:srgbClr>
          </a:solidFill>
          <a:ln w="12700" cap="flat" cmpd="sng">
            <a:solidFill>
              <a:srgbClr val="94A3B8">
                <a:alpha val="20000"/>
              </a:srgbClr>
            </a:solidFill>
            <a:prstDash val="solid"/>
            <a:round/>
          </a:ln>
        </p:spPr>
        <p:txBody>
          <a:bodyPr vert="horz" wrap="square" lIns="254000" tIns="0" rIns="25400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守底盘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承接基础平台稳定性、体验一致性与渐进创新要求</a:t>
            </a:r>
            <a:endParaRPr lang="en-US" sz="1400" b="0" i="0" u="none" strike="noStrike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3937000" y="2603500"/>
            <a:ext cx="4318000" cy="2286000"/>
          </a:xfrm>
          <a:prstGeom prst="roundRect">
            <a:avLst>
              <a:gd name="adj" fmla="val 6666"/>
            </a:avLst>
          </a:prstGeom>
          <a:solidFill>
            <a:srgbClr val="38BDF8">
              <a:alpha val="10000"/>
            </a:srgbClr>
          </a:solidFill>
          <a:ln w="25400" cap="flat" cmpd="sng">
            <a:solidFill>
              <a:srgbClr val="38BDF8">
                <a:alpha val="80000"/>
              </a:srgbClr>
            </a:solidFill>
            <a:prstDash val="solid"/>
            <a:round/>
          </a:ln>
          <a:effectLst>
            <a:outerShdw blurRad="317500" dir="2700000" algn="tl" rotWithShape="0">
              <a:srgbClr val="38BDF8">
                <a:alpha val="30000"/>
              </a:srgbClr>
            </a:outerShdw>
          </a:effectLst>
        </p:spPr>
        <p:txBody>
          <a:bodyPr vert="horz" wrap="square" lIns="381000" tIns="0" rIns="38100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rPr>
              <a:t>战未来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1500"/>
              </a:spcBef>
            </a:pPr>
            <a:r>
              <a:rPr lang="en-US" sz="1600" b="0" i="0" u="none" strike="noStrike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独立推进 AI Native 产研，打造下一代 AI CRM 产品与平台能力</a:t>
            </a:r>
            <a:endParaRPr lang="en-US" sz="1600" b="0" i="0" u="none" strike="noStrike">
              <a:solidFill>
                <a:srgbClr val="F8FAF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8763000" y="2984500"/>
            <a:ext cx="2794000" cy="1524000"/>
          </a:xfrm>
          <a:prstGeom prst="roundRect">
            <a:avLst>
              <a:gd name="adj" fmla="val 6666"/>
            </a:avLst>
          </a:prstGeom>
          <a:solidFill>
            <a:srgbClr val="1E293B">
              <a:alpha val="40000"/>
            </a:srgbClr>
          </a:solidFill>
          <a:ln w="12700" cap="flat" cmpd="sng">
            <a:solidFill>
              <a:srgbClr val="94A3B8">
                <a:alpha val="20000"/>
              </a:srgbClr>
            </a:solidFill>
            <a:prstDash val="solid"/>
            <a:round/>
          </a:ln>
        </p:spPr>
        <p:txBody>
          <a:bodyPr vert="horz" wrap="square" lIns="254000" tIns="0" rIns="25400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强运营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通过数据驱动、组织协同和高频反馈，加速 AI 在销售/渠道/服务场景落地</a:t>
            </a:r>
            <a:endParaRPr lang="en-US" sz="1400" b="0" i="0" u="none" strike="noStrike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" name="Connector 7"/>
          <p:cNvCxnSpPr/>
          <p:nvPr/>
        </p:nvCxnSpPr>
        <p:spPr>
          <a:xfrm rot="-107342">
            <a:off x="3478629" y="3740150"/>
            <a:ext cx="40659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4A3B8">
                <a:alpha val="50000"/>
              </a:srgbClr>
            </a:solidFill>
            <a:prstDash val="dash"/>
            <a:miter lim="8000000"/>
            <a:headEnd type="none" w="lg" len="lg"/>
            <a:tailEnd type="triangle" w="lg" len="lg"/>
          </a:ln>
        </p:spPr>
      </p:cxnSp>
      <p:cxnSp>
        <p:nvCxnSpPr>
          <p:cNvPr id="8" name="Connector 8"/>
          <p:cNvCxnSpPr/>
          <p:nvPr/>
        </p:nvCxnSpPr>
        <p:spPr>
          <a:xfrm rot="-107342">
            <a:off x="8304629" y="3740150"/>
            <a:ext cx="40659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4A3B8">
                <a:alpha val="50000"/>
              </a:srgbClr>
            </a:solidFill>
            <a:prstDash val="dash"/>
            <a:miter lim="8000000"/>
            <a:headEnd type="none" w="lg" len="lg"/>
            <a:tailEnd type="triangle" w="lg" len="lg"/>
          </a:ln>
        </p:spPr>
      </p:cxnSp>
      <p:sp>
        <p:nvSpPr>
          <p:cNvPr id="9" name="AutoShape 9"/>
          <p:cNvSpPr/>
          <p:nvPr/>
        </p:nvSpPr>
        <p:spPr>
          <a:xfrm>
            <a:off x="635000" y="5461000"/>
            <a:ext cx="10922000" cy="889000"/>
          </a:xfrm>
          <a:prstGeom prst="roundRect">
            <a:avLst>
              <a:gd name="adj" fmla="val 11428"/>
            </a:avLst>
          </a:prstGeom>
          <a:solidFill>
            <a:srgbClr val="38BDF8">
              <a:alpha val="5000"/>
            </a:srgbClr>
          </a:solidFill>
          <a:ln w="12700" cap="flat" cmpd="sng">
            <a:solidFill>
              <a:srgbClr val="38BDF8">
                <a:alpha val="20000"/>
              </a:srgbClr>
            </a:solidFill>
            <a:prstDash val="dash"/>
            <a:round/>
          </a:ln>
        </p:spPr>
        <p:txBody>
          <a:bodyPr vert="horz" wrap="square" lIns="254000" tIns="0" rIns="25400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定位不是替代谁，而是把基础平台能力、AI 原生突破和业务运营反馈连接成</a:t>
            </a:r>
            <a:r>
              <a:rPr lang="en-US" sz="1800" b="1" i="0" u="none" strike="noStrike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rPr>
              <a:t>持续进化的智能化底座</a:t>
            </a:r>
            <a:r>
              <a:rPr lang="en-US" sz="1800" b="0" i="0" u="none" strike="noStrike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8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Agent 平台架构图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079500"/>
            <a:ext cx="10668000" cy="1333500"/>
          </a:xfrm>
          <a:prstGeom prst="roundRect">
            <a:avLst>
              <a:gd name="adj" fmla="val 5714"/>
            </a:avLst>
          </a:prstGeom>
          <a:solidFill>
            <a:srgbClr val="6366F1">
              <a:alpha val="5000"/>
            </a:srgbClr>
          </a:solidFill>
          <a:ln w="12700" cap="flat" cmpd="sng">
            <a:solidFill>
              <a:srgbClr val="6366F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927100"/>
            <a:ext cx="3048000" cy="304800"/>
          </a:xfrm>
          <a:prstGeom prst="roundRect">
            <a:avLst>
              <a:gd name="adj" fmla="val 16666"/>
            </a:avLst>
          </a:prstGeom>
          <a:solidFill>
            <a:srgbClr val="4F46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55000" lnSpcReduction="10000"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业务实现层 (Business Applications)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191000" y="9271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5B4FC"/>
                </a:solidFill>
                <a:latin typeface="Noto Sans SC"/>
                <a:ea typeface="Noto Sans SC"/>
                <a:cs typeface="Noto Sans SC"/>
                <a:sym typeface="Noto Sans SC"/>
              </a:rPr>
              <a:t>直接面向终端用户的智能业务场景 · 由 Agent 平台能力驱动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43000" y="1333500"/>
            <a:ext cx="1651000" cy="254000"/>
          </a:xfrm>
          <a:prstGeom prst="roundRect">
            <a:avLst>
              <a:gd name="adj" fmla="val 20000"/>
            </a:avLst>
          </a:prstGeom>
          <a:solidFill>
            <a:srgbClr val="4F46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55000" lnSpcReduction="20000"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Agent 平台默认能力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43000" y="1714500"/>
            <a:ext cx="1778000" cy="482600"/>
          </a:xfrm>
          <a:prstGeom prst="roundRect">
            <a:avLst>
              <a:gd name="adj" fmla="val 10526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475569">
                <a:alpha val="60000"/>
              </a:srgbClr>
            </a:solidFill>
            <a:prstDash val="solid"/>
            <a:round/>
          </a:ln>
        </p:spPr>
        <p:txBody>
          <a:bodyPr vert="horz" wrap="square" lIns="101600" tIns="0" rIns="0" bIns="0" rtlCol="0" anchor="ctr" anchorCtr="0">
            <a:normAutofit fontScale="70000" lnSpcReduction="1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🎙️ 智能录音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300"/>
              </a:spcBef>
            </a:pP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实时转写 / 摘要提取</a:t>
            </a:r>
            <a:endParaRPr lang="en-US" sz="9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048000" y="1714500"/>
            <a:ext cx="1714500" cy="482600"/>
          </a:xfrm>
          <a:prstGeom prst="roundRect">
            <a:avLst>
              <a:gd name="adj" fmla="val 10526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475569">
                <a:alpha val="60000"/>
              </a:srgbClr>
            </a:solidFill>
            <a:prstDash val="solid"/>
            <a:round/>
          </a:ln>
        </p:spPr>
        <p:txBody>
          <a:bodyPr vert="horz" wrap="square" lIns="101600" tIns="0" rIns="0" bIns="0" rtlCol="0" anchor="ctr" anchorCtr="0">
            <a:normAutofit fontScale="70000" lnSpcReduction="1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💬 百事通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300"/>
              </a:spcBef>
            </a:pP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智能问答 / 操作助手</a:t>
            </a:r>
            <a:endParaRPr lang="en-US" sz="9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080000" y="1333500"/>
            <a:ext cx="1651000" cy="254000"/>
          </a:xfrm>
          <a:prstGeom prst="roundRect">
            <a:avLst>
              <a:gd name="adj" fmla="val 20000"/>
            </a:avLst>
          </a:prstGeom>
          <a:solidFill>
            <a:srgbClr val="4F46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55000" lnSpcReduction="20000"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业务线新增应用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080000" y="1714500"/>
            <a:ext cx="1905000" cy="482600"/>
          </a:xfrm>
          <a:prstGeom prst="roundRect">
            <a:avLst>
              <a:gd name="adj" fmla="val 10526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475569">
                <a:alpha val="60000"/>
              </a:srgbClr>
            </a:solidFill>
            <a:prstDash val="solid"/>
            <a:round/>
          </a:ln>
        </p:spPr>
        <p:txBody>
          <a:bodyPr vert="horz" wrap="square" lIns="101600" tIns="0" rIns="0" bIns="0" rtlCol="0" anchor="ctr" anchorCtr="0">
            <a:normAutofit fontScale="70000" lnSpcReduction="1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🔎 客户洞察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300"/>
              </a:spcBef>
            </a:pP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画像分析 / 行为追踪</a:t>
            </a:r>
            <a:endParaRPr lang="en-US" sz="9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112000" y="1714500"/>
            <a:ext cx="1905000" cy="482600"/>
          </a:xfrm>
          <a:prstGeom prst="roundRect">
            <a:avLst>
              <a:gd name="adj" fmla="val 10526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475569">
                <a:alpha val="60000"/>
              </a:srgbClr>
            </a:solidFill>
            <a:prstDash val="solid"/>
            <a:round/>
          </a:ln>
        </p:spPr>
        <p:txBody>
          <a:bodyPr vert="horz" wrap="square" lIns="101600" tIns="0" rIns="0" bIns="0" rtlCol="0" anchor="ctr" anchorCtr="0">
            <a:normAutofit fontScale="70000" lnSpcReduction="1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💡 商机健康度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300"/>
              </a:spcBef>
            </a:pP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赢率预测 / 风险识别</a:t>
            </a:r>
            <a:endParaRPr lang="en-US" sz="9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9144000" y="1714500"/>
            <a:ext cx="1905000" cy="482600"/>
          </a:xfrm>
          <a:prstGeom prst="roundRect">
            <a:avLst>
              <a:gd name="adj" fmla="val 10526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475569">
                <a:alpha val="60000"/>
              </a:srgbClr>
            </a:solidFill>
            <a:prstDash val="solid"/>
            <a:round/>
          </a:ln>
        </p:spPr>
        <p:txBody>
          <a:bodyPr vert="horz" wrap="square" lIns="101600" tIns="0" rIns="0" bIns="0" rtlCol="0" anchor="ctr" anchorCtr="0">
            <a:normAutofit fontScale="70000" lnSpcReduction="1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818CF8"/>
                </a:solidFill>
                <a:latin typeface="Noto Sans SC"/>
                <a:ea typeface="Noto Sans SC"/>
                <a:cs typeface="Noto Sans SC"/>
                <a:sym typeface="Noto Sans SC"/>
              </a:rPr>
              <a:t>🚀 更多场景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300"/>
              </a:spcBef>
            </a:pP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营销 / 服务 / 渠道</a:t>
            </a:r>
            <a:endParaRPr lang="en-US" sz="9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2794000"/>
            <a:ext cx="10668000" cy="3873500"/>
          </a:xfrm>
          <a:prstGeom prst="roundRect">
            <a:avLst>
              <a:gd name="adj" fmla="val 1967"/>
            </a:avLst>
          </a:prstGeom>
          <a:solidFill>
            <a:srgbClr val="38BDF8">
              <a:alpha val="3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2641600"/>
            <a:ext cx="2794000" cy="304800"/>
          </a:xfrm>
          <a:prstGeom prst="roundRect">
            <a:avLst>
              <a:gd name="adj" fmla="val 16666"/>
            </a:avLst>
          </a:prstGeom>
          <a:solidFill>
            <a:srgbClr val="0284C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55000" lnSpcReduction="10000"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Agent 平台 (NeoAgent)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3111500"/>
            <a:ext cx="4953000" cy="1270000"/>
          </a:xfrm>
          <a:prstGeom prst="roundRect">
            <a:avLst>
              <a:gd name="adj" fmla="val 6000"/>
            </a:avLst>
          </a:prstGeom>
          <a:solidFill>
            <a:srgbClr val="1E293B">
              <a:alpha val="50000"/>
            </a:srgbClr>
          </a:solidFill>
          <a:ln w="12700" cap="flat" cmpd="sng">
            <a:solidFill>
              <a:srgbClr val="38BDF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143000" y="2984500"/>
            <a:ext cx="1651000" cy="254000"/>
          </a:xfrm>
          <a:prstGeom prst="roundRect">
            <a:avLst>
              <a:gd name="adj" fmla="val 20000"/>
            </a:avLst>
          </a:prstGeom>
          <a:solidFill>
            <a:srgbClr val="0EA5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55000" lnSpcReduction="20000"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维度一 · Agent 框架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921000" y="29845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7DD3FC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智能体核心决策与执行内核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143000" y="3429000"/>
            <a:ext cx="1524000" cy="381000"/>
          </a:xfrm>
          <a:prstGeom prst="roundRect">
            <a:avLst>
              <a:gd name="adj" fmla="val 13333"/>
            </a:avLst>
          </a:prstGeom>
          <a:solidFill>
            <a:srgbClr val="0F172A">
              <a:alpha val="80000"/>
            </a:srgbClr>
          </a:solidFill>
          <a:ln w="12700" cap="flat" cmpd="sng">
            <a:solidFill>
              <a:srgbClr val="475569">
                <a:alpha val="60000"/>
              </a:srgbClr>
            </a:solidFill>
            <a:prstDash val="solid"/>
            <a:round/>
          </a:ln>
        </p:spPr>
        <p:txBody>
          <a:bodyPr vert="horz" wrap="square" lIns="101600" tIns="0" rIns="0" bIns="0" rtlCol="0" anchor="ctr" anchorCtr="0">
            <a:normAutofit fontScale="625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🛠 Tool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300"/>
              </a:spcBef>
            </a:pP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原子操作</a:t>
            </a:r>
            <a:endParaRPr lang="en-US" sz="9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2730500" y="3429000"/>
            <a:ext cx="1524000" cy="381000"/>
          </a:xfrm>
          <a:prstGeom prst="roundRect">
            <a:avLst>
              <a:gd name="adj" fmla="val 13333"/>
            </a:avLst>
          </a:prstGeom>
          <a:solidFill>
            <a:srgbClr val="0F172A">
              <a:alpha val="80000"/>
            </a:srgbClr>
          </a:solidFill>
          <a:ln w="12700" cap="flat" cmpd="sng">
            <a:solidFill>
              <a:srgbClr val="475569">
                <a:alpha val="60000"/>
              </a:srgbClr>
            </a:solidFill>
            <a:prstDash val="solid"/>
            <a:round/>
          </a:ln>
        </p:spPr>
        <p:txBody>
          <a:bodyPr vert="horz" wrap="square" lIns="101600" tIns="0" rIns="0" bIns="0" rtlCol="0" anchor="ctr" anchorCtr="0">
            <a:normAutofit fontScale="625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🔌 Middleware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300"/>
              </a:spcBef>
            </a:pP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可插拔设施</a:t>
            </a:r>
            <a:endParaRPr lang="en-US" sz="9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4318000" y="3429000"/>
            <a:ext cx="1524000" cy="381000"/>
          </a:xfrm>
          <a:prstGeom prst="roundRect">
            <a:avLst>
              <a:gd name="adj" fmla="val 13333"/>
            </a:avLst>
          </a:prstGeom>
          <a:solidFill>
            <a:srgbClr val="0F172A">
              <a:alpha val="80000"/>
            </a:srgbClr>
          </a:solidFill>
          <a:ln w="12700" cap="flat" cmpd="sng">
            <a:solidFill>
              <a:srgbClr val="475569">
                <a:alpha val="60000"/>
              </a:srgbClr>
            </a:solidFill>
            <a:prstDash val="solid"/>
            <a:round/>
          </a:ln>
        </p:spPr>
        <p:txBody>
          <a:bodyPr vert="horz" wrap="square" lIns="101600" tIns="0" rIns="0" bIns="0" rtlCol="0" anchor="ctr" anchorCtr="0">
            <a:normAutofit fontScale="625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💾 记忆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300"/>
              </a:spcBef>
            </a:pP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长短期 / 向量</a:t>
            </a:r>
            <a:endParaRPr lang="en-US" sz="9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1143000" y="3873500"/>
            <a:ext cx="1524000" cy="381000"/>
          </a:xfrm>
          <a:prstGeom prst="roundRect">
            <a:avLst>
              <a:gd name="adj" fmla="val 13333"/>
            </a:avLst>
          </a:prstGeom>
          <a:solidFill>
            <a:srgbClr val="0F172A">
              <a:alpha val="80000"/>
            </a:srgbClr>
          </a:solidFill>
          <a:ln w="12700" cap="flat" cmpd="sng">
            <a:solidFill>
              <a:srgbClr val="475569">
                <a:alpha val="60000"/>
              </a:srgbClr>
            </a:solidFill>
            <a:prstDash val="solid"/>
            <a:round/>
          </a:ln>
        </p:spPr>
        <p:txBody>
          <a:bodyPr vert="horz" wrap="square" lIns="101600" tIns="0" rIns="0" bIns="0" rtlCol="0" anchor="ctr" anchorCtr="0">
            <a:normAutofit fontScale="625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🎯 Skill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300"/>
              </a:spcBef>
            </a:pP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SOP 编排</a:t>
            </a:r>
            <a:endParaRPr lang="en-US" sz="9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2730500" y="3873500"/>
            <a:ext cx="1524000" cy="381000"/>
          </a:xfrm>
          <a:prstGeom prst="roundRect">
            <a:avLst>
              <a:gd name="adj" fmla="val 13333"/>
            </a:avLst>
          </a:prstGeom>
          <a:solidFill>
            <a:srgbClr val="0F172A">
              <a:alpha val="80000"/>
            </a:srgbClr>
          </a:solidFill>
          <a:ln w="12700" cap="flat" cmpd="sng">
            <a:solidFill>
              <a:srgbClr val="475569">
                <a:alpha val="60000"/>
              </a:srgbClr>
            </a:solidFill>
            <a:prstDash val="solid"/>
            <a:round/>
          </a:ln>
        </p:spPr>
        <p:txBody>
          <a:bodyPr vert="horz" wrap="square" lIns="101600" tIns="0" rIns="0" bIns="0" rtlCol="0" anchor="ctr" anchorCtr="0">
            <a:normAutofit fontScale="625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🔗 MCP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300"/>
              </a:spcBef>
            </a:pP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外部工具源</a:t>
            </a:r>
            <a:endParaRPr lang="en-US" sz="9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4318000" y="3873500"/>
            <a:ext cx="1524000" cy="381000"/>
          </a:xfrm>
          <a:prstGeom prst="roundRect">
            <a:avLst>
              <a:gd name="adj" fmla="val 13333"/>
            </a:avLst>
          </a:prstGeom>
          <a:solidFill>
            <a:srgbClr val="0F172A">
              <a:alpha val="80000"/>
            </a:srgbClr>
          </a:solidFill>
          <a:ln w="12700" cap="flat" cmpd="sng">
            <a:solidFill>
              <a:srgbClr val="475569">
                <a:alpha val="60000"/>
              </a:srgbClr>
            </a:solidFill>
            <a:prstDash val="solid"/>
            <a:round/>
          </a:ln>
        </p:spPr>
        <p:txBody>
          <a:bodyPr vert="horz" wrap="square" lIns="101600" tIns="0" rIns="0" bIns="0" rtlCol="0" anchor="ctr" anchorCtr="0">
            <a:normAutofit fontScale="625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🔄 反思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300"/>
              </a:spcBef>
            </a:pP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评估自我优化</a:t>
            </a:r>
            <a:endParaRPr lang="en-US" sz="9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096000" y="3111500"/>
            <a:ext cx="5080000" cy="1270000"/>
          </a:xfrm>
          <a:prstGeom prst="roundRect">
            <a:avLst>
              <a:gd name="adj" fmla="val 6000"/>
            </a:avLst>
          </a:prstGeom>
          <a:solidFill>
            <a:srgbClr val="1E293B">
              <a:alpha val="50000"/>
            </a:srgbClr>
          </a:solidFill>
          <a:ln w="12700" cap="flat" cmpd="sng">
            <a:solidFill>
              <a:srgbClr val="8B5C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223000" y="2984500"/>
            <a:ext cx="1651000" cy="254000"/>
          </a:xfrm>
          <a:prstGeom prst="roundRect">
            <a:avLst>
              <a:gd name="adj" fmla="val 20000"/>
            </a:avLst>
          </a:prstGeom>
          <a:solidFill>
            <a:srgbClr val="7C3A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55000" lnSpcReduction="20000"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维度二 · 提示词模板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001000" y="29845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C4B5FD"/>
                </a:solidFill>
                <a:latin typeface="Noto Sans SC"/>
                <a:ea typeface="Noto Sans SC"/>
                <a:cs typeface="Noto Sans SC"/>
                <a:sym typeface="Noto Sans SC"/>
              </a:rPr>
              <a:t>Prompt 中台 · 三端统一复用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223000" y="3429000"/>
            <a:ext cx="2349500" cy="381000"/>
          </a:xfrm>
          <a:prstGeom prst="roundRect">
            <a:avLst>
              <a:gd name="adj" fmla="val 13333"/>
            </a:avLst>
          </a:prstGeom>
          <a:solidFill>
            <a:srgbClr val="0F172A">
              <a:alpha val="80000"/>
            </a:srgbClr>
          </a:solidFill>
          <a:ln w="12700" cap="flat" cmpd="sng">
            <a:solidFill>
              <a:srgbClr val="475569">
                <a:alpha val="60000"/>
              </a:srgbClr>
            </a:solidFill>
            <a:prstDash val="solid"/>
            <a:round/>
          </a:ln>
        </p:spPr>
        <p:txBody>
          <a:bodyPr vert="horz" wrap="square" lIns="101600" tIns="0" rIns="0" bIns="0" rtlCol="0" anchor="ctr" anchorCtr="0">
            <a:normAutofit fontScale="625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A78BFA"/>
                </a:solidFill>
                <a:latin typeface="Noto Sans SC"/>
                <a:ea typeface="Noto Sans SC"/>
                <a:cs typeface="Noto Sans SC"/>
                <a:sym typeface="Noto Sans SC"/>
              </a:rPr>
              <a:t>🏢 平台场景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300"/>
              </a:spcBef>
            </a:pP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System / 人设 / 格式</a:t>
            </a:r>
            <a:endParaRPr lang="en-US" sz="9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8699500" y="3429000"/>
            <a:ext cx="2349500" cy="381000"/>
          </a:xfrm>
          <a:prstGeom prst="roundRect">
            <a:avLst>
              <a:gd name="adj" fmla="val 13333"/>
            </a:avLst>
          </a:prstGeom>
          <a:solidFill>
            <a:srgbClr val="0F172A">
              <a:alpha val="80000"/>
            </a:srgbClr>
          </a:solidFill>
          <a:ln w="12700" cap="flat" cmpd="sng">
            <a:solidFill>
              <a:srgbClr val="475569">
                <a:alpha val="60000"/>
              </a:srgbClr>
            </a:solidFill>
            <a:prstDash val="solid"/>
            <a:round/>
          </a:ln>
        </p:spPr>
        <p:txBody>
          <a:bodyPr vert="horz" wrap="square" lIns="101600" tIns="0" rIns="0" bIns="0" rtlCol="0" anchor="ctr" anchorCtr="0">
            <a:normAutofit fontScale="625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A78BFA"/>
                </a:solidFill>
                <a:latin typeface="Noto Sans SC"/>
                <a:ea typeface="Noto Sans SC"/>
                <a:cs typeface="Noto Sans SC"/>
                <a:sym typeface="Noto Sans SC"/>
              </a:rPr>
              <a:t>👨‍💻 开发者平台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300"/>
              </a:spcBef>
            </a:pP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自定义 Prompt / SDK</a:t>
            </a:r>
            <a:endParaRPr lang="en-US" sz="9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7454900" y="3873500"/>
            <a:ext cx="2349500" cy="381000"/>
          </a:xfrm>
          <a:prstGeom prst="roundRect">
            <a:avLst>
              <a:gd name="adj" fmla="val 13333"/>
            </a:avLst>
          </a:prstGeom>
          <a:solidFill>
            <a:srgbClr val="0F172A">
              <a:alpha val="80000"/>
            </a:srgbClr>
          </a:solidFill>
          <a:ln w="12700" cap="flat" cmpd="sng">
            <a:solidFill>
              <a:srgbClr val="475569">
                <a:alpha val="60000"/>
              </a:srgbClr>
            </a:solidFill>
            <a:prstDash val="solid"/>
            <a:round/>
          </a:ln>
        </p:spPr>
        <p:txBody>
          <a:bodyPr vert="horz" wrap="square" lIns="101600" tIns="0" rIns="0" bIns="0" rtlCol="0" anchor="ctr" anchorCtr="0">
            <a:normAutofit fontScale="625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A78BFA"/>
                </a:solidFill>
                <a:latin typeface="Noto Sans SC"/>
                <a:ea typeface="Noto Sans SC"/>
                <a:cs typeface="Noto Sans SC"/>
                <a:sym typeface="Noto Sans SC"/>
              </a:rPr>
              <a:t>⚙️ 流程智能业务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300"/>
              </a:spcBef>
            </a:pP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 / 自动触发 / 模板</a:t>
            </a:r>
            <a:endParaRPr lang="en-US" sz="9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1016000" y="4572000"/>
            <a:ext cx="10160000" cy="698500"/>
          </a:xfrm>
          <a:prstGeom prst="roundRect">
            <a:avLst>
              <a:gd name="adj" fmla="val 10909"/>
            </a:avLst>
          </a:prstGeom>
          <a:solidFill>
            <a:srgbClr val="A855F7">
              <a:alpha val="5000"/>
            </a:srgbClr>
          </a:solidFill>
          <a:ln w="12700" cap="flat" cmpd="sng">
            <a:solidFill>
              <a:srgbClr val="A855F7">
                <a:alpha val="4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1143000" y="4445000"/>
            <a:ext cx="2286000" cy="254000"/>
          </a:xfrm>
          <a:prstGeom prst="roundRect">
            <a:avLst>
              <a:gd name="adj" fmla="val 20000"/>
            </a:avLst>
          </a:prstGeom>
          <a:solidFill>
            <a:srgbClr val="9333E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55000" lnSpcReduction="20000"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支撑能力层 (跨维度共享)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1143000" y="4762500"/>
            <a:ext cx="1841500" cy="381000"/>
          </a:xfrm>
          <a:prstGeom prst="roundRect">
            <a:avLst>
              <a:gd name="adj" fmla="val 13333"/>
            </a:avLst>
          </a:prstGeom>
          <a:solidFill>
            <a:srgbClr val="0F172A">
              <a:alpha val="80000"/>
            </a:srgbClr>
          </a:solidFill>
          <a:ln w="12700" cap="flat" cmpd="sng">
            <a:solidFill>
              <a:srgbClr val="475569">
                <a:alpha val="60000"/>
              </a:srgbClr>
            </a:solidFill>
            <a:prstDash val="solid"/>
            <a:round/>
          </a:ln>
        </p:spPr>
        <p:txBody>
          <a:bodyPr vert="horz" wrap="square" lIns="101600" tIns="0" rIns="0" bIns="0" rtlCol="0" anchor="ctr" anchorCtr="0">
            <a:normAutofit fontScale="625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C084FC"/>
                </a:solidFill>
                <a:latin typeface="Noto Sans SC"/>
                <a:ea typeface="Noto Sans SC"/>
                <a:cs typeface="Noto Sans SC"/>
                <a:sym typeface="Noto Sans SC"/>
              </a:rPr>
              <a:t>🧠 推理引擎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300"/>
              </a:spcBef>
            </a:pP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意图 / 规划</a:t>
            </a:r>
            <a:endParaRPr lang="en-US" sz="9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3111500" y="4762500"/>
            <a:ext cx="1841500" cy="381000"/>
          </a:xfrm>
          <a:prstGeom prst="roundRect">
            <a:avLst>
              <a:gd name="adj" fmla="val 13333"/>
            </a:avLst>
          </a:prstGeom>
          <a:solidFill>
            <a:srgbClr val="0F172A">
              <a:alpha val="80000"/>
            </a:srgbClr>
          </a:solidFill>
          <a:ln w="12700" cap="flat" cmpd="sng">
            <a:solidFill>
              <a:srgbClr val="475569">
                <a:alpha val="60000"/>
              </a:srgbClr>
            </a:solidFill>
            <a:prstDash val="solid"/>
            <a:round/>
          </a:ln>
        </p:spPr>
        <p:txBody>
          <a:bodyPr vert="horz" wrap="square" lIns="101600" tIns="0" rIns="0" bIns="0" rtlCol="0" anchor="ctr" anchorCtr="0">
            <a:normAutofit fontScale="625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C084FC"/>
                </a:solidFill>
                <a:latin typeface="Noto Sans SC"/>
                <a:ea typeface="Noto Sans SC"/>
                <a:cs typeface="Noto Sans SC"/>
                <a:sym typeface="Noto Sans SC"/>
              </a:rPr>
              <a:t>📐 上下文工程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300"/>
              </a:spcBef>
            </a:pP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压缩 / 摘要</a:t>
            </a:r>
            <a:endParaRPr lang="en-US" sz="9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5080000" y="4762500"/>
            <a:ext cx="1841500" cy="381000"/>
          </a:xfrm>
          <a:prstGeom prst="roundRect">
            <a:avLst>
              <a:gd name="adj" fmla="val 13333"/>
            </a:avLst>
          </a:prstGeom>
          <a:solidFill>
            <a:srgbClr val="0F172A">
              <a:alpha val="80000"/>
            </a:srgbClr>
          </a:solidFill>
          <a:ln w="12700" cap="flat" cmpd="sng">
            <a:solidFill>
              <a:srgbClr val="475569">
                <a:alpha val="60000"/>
              </a:srgbClr>
            </a:solidFill>
            <a:prstDash val="solid"/>
            <a:round/>
          </a:ln>
        </p:spPr>
        <p:txBody>
          <a:bodyPr vert="horz" wrap="square" lIns="101600" tIns="0" rIns="0" bIns="0" rtlCol="0" anchor="ctr" anchorCtr="0">
            <a:normAutofit fontScale="625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C084FC"/>
                </a:solidFill>
                <a:latin typeface="Noto Sans SC"/>
                <a:ea typeface="Noto Sans SC"/>
                <a:cs typeface="Noto Sans SC"/>
                <a:sym typeface="Noto Sans SC"/>
              </a:rPr>
              <a:t>💻 AG-UI / A2UI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300"/>
              </a:spcBef>
            </a:pP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前端协议</a:t>
            </a:r>
            <a:endParaRPr lang="en-US" sz="9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7048500" y="4762500"/>
            <a:ext cx="1841500" cy="381000"/>
          </a:xfrm>
          <a:prstGeom prst="roundRect">
            <a:avLst>
              <a:gd name="adj" fmla="val 13333"/>
            </a:avLst>
          </a:prstGeom>
          <a:solidFill>
            <a:srgbClr val="0F172A">
              <a:alpha val="80000"/>
            </a:srgbClr>
          </a:solidFill>
          <a:ln w="12700" cap="flat" cmpd="sng">
            <a:solidFill>
              <a:srgbClr val="475569">
                <a:alpha val="60000"/>
              </a:srgbClr>
            </a:solidFill>
            <a:prstDash val="solid"/>
            <a:round/>
          </a:ln>
        </p:spPr>
        <p:txBody>
          <a:bodyPr vert="horz" wrap="square" lIns="101600" tIns="0" rIns="0" bIns="0" rtlCol="0" anchor="ctr" anchorCtr="0">
            <a:normAutofit fontScale="625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C084FC"/>
                </a:solidFill>
                <a:latin typeface="Noto Sans SC"/>
                <a:ea typeface="Noto Sans SC"/>
                <a:cs typeface="Noto Sans SC"/>
                <a:sym typeface="Noto Sans SC"/>
              </a:rPr>
              <a:t>🤖 Multi-Agent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300"/>
              </a:spcBef>
            </a:pP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子 Agent 协作</a:t>
            </a:r>
            <a:endParaRPr lang="en-US" sz="9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9017000" y="4762500"/>
            <a:ext cx="1841500" cy="381000"/>
          </a:xfrm>
          <a:prstGeom prst="roundRect">
            <a:avLst>
              <a:gd name="adj" fmla="val 13333"/>
            </a:avLst>
          </a:prstGeom>
          <a:solidFill>
            <a:srgbClr val="0F172A">
              <a:alpha val="80000"/>
            </a:srgbClr>
          </a:solidFill>
          <a:ln w="12700" cap="flat" cmpd="sng">
            <a:solidFill>
              <a:srgbClr val="475569">
                <a:alpha val="60000"/>
              </a:srgbClr>
            </a:solidFill>
            <a:prstDash val="solid"/>
            <a:round/>
          </a:ln>
        </p:spPr>
        <p:txBody>
          <a:bodyPr vert="horz" wrap="square" lIns="101600" tIns="0" rIns="0" bIns="0" rtlCol="0" anchor="ctr" anchorCtr="0">
            <a:normAutofit fontScale="625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C084FC"/>
                </a:solidFill>
                <a:latin typeface="Noto Sans SC"/>
                <a:ea typeface="Noto Sans SC"/>
                <a:cs typeface="Noto Sans SC"/>
                <a:sym typeface="Noto Sans SC"/>
              </a:rPr>
              <a:t>🛡️ 安全层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300"/>
              </a:spcBef>
            </a:pP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审查 / PII / HITL</a:t>
            </a:r>
            <a:endParaRPr lang="en-US" sz="9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1016000" y="5397500"/>
            <a:ext cx="10160000" cy="330200"/>
          </a:xfrm>
          <a:prstGeom prst="roundRect">
            <a:avLst>
              <a:gd name="adj" fmla="val 15384"/>
            </a:avLst>
          </a:prstGeom>
          <a:solidFill>
            <a:srgbClr val="F59E0B">
              <a:alpha val="15000"/>
            </a:srgbClr>
          </a:solidFill>
          <a:ln w="12700" cap="flat" cmpd="sng">
            <a:solidFill>
              <a:srgbClr val="F59E0B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 fontScale="77500" lnSpcReduction="20000"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BBF24"/>
                </a:solidFill>
                <a:latin typeface="Noto Sans SC"/>
                <a:ea typeface="Noto Sans SC"/>
                <a:cs typeface="Noto Sans SC"/>
                <a:sym typeface="Noto Sans SC"/>
              </a:rPr>
              <a:t>💰 资源点扣费层：统一接入 · 路由 · 限流 · 降级 · 计费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1016000" y="5842000"/>
            <a:ext cx="4953000" cy="825500"/>
          </a:xfrm>
          <a:prstGeom prst="roundRect">
            <a:avLst>
              <a:gd name="adj" fmla="val 9230"/>
            </a:avLst>
          </a:prstGeom>
          <a:solidFill>
            <a:srgbClr val="1E293B">
              <a:alpha val="5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1143000" y="5715000"/>
            <a:ext cx="1778000" cy="254000"/>
          </a:xfrm>
          <a:prstGeom prst="roundRect">
            <a:avLst>
              <a:gd name="adj" fmla="val 2000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55000" lnSpcReduction="20000"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大模型网关平台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1143000" y="6032500"/>
            <a:ext cx="2349500" cy="304800"/>
          </a:xfrm>
          <a:prstGeom prst="roundRect">
            <a:avLst>
              <a:gd name="adj" fmla="val 16666"/>
            </a:avLst>
          </a:prstGeom>
          <a:solidFill>
            <a:srgbClr val="0F172A">
              <a:alpha val="80000"/>
            </a:srgbClr>
          </a:solidFill>
          <a:ln w="12700" cap="flat" cmpd="sng">
            <a:solidFill>
              <a:srgbClr val="475569">
                <a:alpha val="60000"/>
              </a:srgbClr>
            </a:solidFill>
            <a:prstDash val="solid"/>
            <a:round/>
          </a:ln>
        </p:spPr>
        <p:txBody>
          <a:bodyPr vert="horz" wrap="square" lIns="101600" tIns="0" rIns="0" bIns="0" rtlCol="0" anchor="ctr" anchorCtr="0">
            <a:normAutofit fontScale="625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🇨🇳 国内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· 混元/通义/豆包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3556000" y="6032500"/>
            <a:ext cx="2349500" cy="304800"/>
          </a:xfrm>
          <a:prstGeom prst="roundRect">
            <a:avLst>
              <a:gd name="adj" fmla="val 16666"/>
            </a:avLst>
          </a:prstGeom>
          <a:solidFill>
            <a:srgbClr val="0F172A">
              <a:alpha val="80000"/>
            </a:srgbClr>
          </a:solidFill>
          <a:ln w="12700" cap="flat" cmpd="sng">
            <a:solidFill>
              <a:srgbClr val="475569">
                <a:alpha val="60000"/>
              </a:srgbClr>
            </a:solidFill>
            <a:prstDash val="solid"/>
            <a:round/>
          </a:ln>
        </p:spPr>
        <p:txBody>
          <a:bodyPr vert="horz" wrap="square" lIns="101600" tIns="0" rIns="0" bIns="0" rtlCol="0" anchor="ctr" anchorCtr="0">
            <a:normAutofit fontScale="625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🌍 国际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· OpenAI/Claude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1143000" y="6350000"/>
            <a:ext cx="4762500" cy="279400"/>
          </a:xfrm>
          <a:prstGeom prst="roundRect">
            <a:avLst>
              <a:gd name="adj" fmla="val 18181"/>
            </a:avLst>
          </a:prstGeom>
          <a:solidFill>
            <a:srgbClr val="0F172A">
              <a:alpha val="80000"/>
            </a:srgbClr>
          </a:solidFill>
          <a:ln w="12700" cap="flat" cmpd="sng">
            <a:solidFill>
              <a:srgbClr val="475569">
                <a:alpha val="60000"/>
              </a:srgbClr>
            </a:solidFill>
            <a:prstDash val="solid"/>
            <a:round/>
          </a:ln>
        </p:spPr>
        <p:txBody>
          <a:bodyPr vert="horz" wrap="square" lIns="101600" tIns="0" rIns="0" bIns="0" rtlCol="0" anchor="ctr" anchorCtr="0">
            <a:normAutofit fontScale="625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⚙️ 网关核心能力：统一协议 · 智能路由 · 失败降级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6096000" y="5842000"/>
            <a:ext cx="5080000" cy="825500"/>
          </a:xfrm>
          <a:prstGeom prst="roundRect">
            <a:avLst>
              <a:gd name="adj" fmla="val 9230"/>
            </a:avLst>
          </a:prstGeom>
          <a:solidFill>
            <a:srgbClr val="1E293B">
              <a:alpha val="5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AutoShape 44"/>
          <p:cNvSpPr/>
          <p:nvPr/>
        </p:nvSpPr>
        <p:spPr>
          <a:xfrm>
            <a:off x="6223000" y="5715000"/>
            <a:ext cx="1778000" cy="254000"/>
          </a:xfrm>
          <a:prstGeom prst="roundRect">
            <a:avLst>
              <a:gd name="adj" fmla="val 20000"/>
            </a:avLst>
          </a:prstGeom>
          <a:solidFill>
            <a:srgbClr val="0D948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55000" lnSpcReduction="20000"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基础原子能力平台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6223000" y="6032500"/>
            <a:ext cx="2413000" cy="304800"/>
          </a:xfrm>
          <a:prstGeom prst="roundRect">
            <a:avLst>
              <a:gd name="adj" fmla="val 16666"/>
            </a:avLst>
          </a:prstGeom>
          <a:solidFill>
            <a:srgbClr val="0F172A">
              <a:alpha val="80000"/>
            </a:srgbClr>
          </a:solidFill>
          <a:ln w="12700" cap="flat" cmpd="sng">
            <a:solidFill>
              <a:srgbClr val="475569">
                <a:alpha val="60000"/>
              </a:srgbClr>
            </a:solidFill>
            <a:prstDash val="solid"/>
            <a:round/>
          </a:ln>
        </p:spPr>
        <p:txBody>
          <a:bodyPr vert="horz" wrap="square" lIns="101600" tIns="0" rIns="0" bIns="0" rtlCol="0" anchor="ctr" anchorCtr="0">
            <a:normAutofit fontScale="625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📄 文档解析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· PDF / Excel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8699500" y="6032500"/>
            <a:ext cx="2413000" cy="304800"/>
          </a:xfrm>
          <a:prstGeom prst="roundRect">
            <a:avLst>
              <a:gd name="adj" fmla="val 16666"/>
            </a:avLst>
          </a:prstGeom>
          <a:solidFill>
            <a:srgbClr val="0F172A">
              <a:alpha val="80000"/>
            </a:srgbClr>
          </a:solidFill>
          <a:ln w="12700" cap="flat" cmpd="sng">
            <a:solidFill>
              <a:srgbClr val="475569">
                <a:alpha val="60000"/>
              </a:srgbClr>
            </a:solidFill>
            <a:prstDash val="solid"/>
            <a:round/>
          </a:ln>
        </p:spPr>
        <p:txBody>
          <a:bodyPr vert="horz" wrap="square" lIns="101600" tIns="0" rIns="0" bIns="0" rtlCol="0" anchor="ctr" anchorCtr="0">
            <a:normAutofit fontScale="625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👁️ OCR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· 提取与还原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6223000" y="6350000"/>
            <a:ext cx="2413000" cy="304800"/>
          </a:xfrm>
          <a:prstGeom prst="roundRect">
            <a:avLst>
              <a:gd name="adj" fmla="val 16666"/>
            </a:avLst>
          </a:prstGeom>
          <a:solidFill>
            <a:srgbClr val="0F172A">
              <a:alpha val="80000"/>
            </a:srgbClr>
          </a:solidFill>
          <a:ln w="12700" cap="flat" cmpd="sng">
            <a:solidFill>
              <a:srgbClr val="475569">
                <a:alpha val="60000"/>
              </a:srgbClr>
            </a:solidFill>
            <a:prstDash val="solid"/>
            <a:round/>
          </a:ln>
        </p:spPr>
        <p:txBody>
          <a:bodyPr vert="horz" wrap="square" lIns="101600" tIns="0" rIns="0" bIns="0" rtlCol="0" anchor="ctr" anchorCtr="0">
            <a:normAutofit fontScale="625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🎙️ ASR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· 语音转文字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8699500" y="6350000"/>
            <a:ext cx="2413000" cy="304800"/>
          </a:xfrm>
          <a:prstGeom prst="roundRect">
            <a:avLst>
              <a:gd name="adj" fmla="val 16666"/>
            </a:avLst>
          </a:prstGeom>
          <a:solidFill>
            <a:srgbClr val="0F172A">
              <a:alpha val="80000"/>
            </a:srgbClr>
          </a:solidFill>
          <a:ln w="12700" cap="flat" cmpd="sng">
            <a:solidFill>
              <a:srgbClr val="475569">
                <a:alpha val="60000"/>
              </a:srgbClr>
            </a:solidFill>
            <a:prstDash val="solid"/>
            <a:round/>
          </a:ln>
        </p:spPr>
        <p:txBody>
          <a:bodyPr vert="horz" wrap="square" lIns="101600" tIns="0" rIns="0" bIns="0" rtlCol="0" anchor="ctr" anchorCtr="0">
            <a:normAutofit fontScale="625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🗂️ 向量库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9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· Embedding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AutoShape 2"/>
          <p:cNvSpPr/>
          <p:nvPr/>
        </p:nvSpPr>
        <p:spPr>
          <a:xfrm>
            <a:off x="-2540000" y="-2540000"/>
            <a:ext cx="7620000" cy="7620000"/>
          </a:xfrm>
          <a:prstGeom prst="ellipse">
            <a:avLst/>
          </a:prstGeom>
          <a:solidFill>
            <a:srgbClr val="38BDF8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0" name="AutoShape 3"/>
          <p:cNvSpPr/>
          <p:nvPr/>
        </p:nvSpPr>
        <p:spPr>
          <a:xfrm>
            <a:off x="508000" y="4445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对腾讯借力：按能力分层对接，避免重复建设通用底座</a:t>
            </a:r>
            <a:endParaRPr lang="en-US" sz="3200" b="1" i="0" u="none" strike="noStrike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" name="AutoShape 4"/>
          <p:cNvSpPr/>
          <p:nvPr/>
        </p:nvSpPr>
        <p:spPr>
          <a:xfrm>
            <a:off x="508000" y="10160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原则：已成熟能力优先接入；演进中能力联合评估；CRM Agent 大脑、业务编排、aPaaS 集成和商业化闭环坚持自研。</a:t>
            </a:r>
            <a:endParaRPr lang="en-US" sz="1100"/>
          </a:p>
        </p:txBody>
      </p:sp>
      <p:sp>
        <p:nvSpPr>
          <p:cNvPr id="52" name="AutoShape 5"/>
          <p:cNvSpPr/>
          <p:nvPr/>
        </p:nvSpPr>
        <p:spPr>
          <a:xfrm>
            <a:off x="508000" y="1651000"/>
            <a:ext cx="3556000" cy="2032000"/>
          </a:xfrm>
          <a:prstGeom prst="roundRect">
            <a:avLst>
              <a:gd name="adj" fmla="val 3750"/>
            </a:avLst>
          </a:prstGeom>
          <a:solidFill>
            <a:srgbClr val="1E293B">
              <a:alpha val="40000"/>
            </a:srgbClr>
          </a:solidFill>
          <a:ln w="12700" cap="flat" cmpd="sng">
            <a:solidFill>
              <a:srgbClr val="334155">
                <a:alpha val="80000"/>
              </a:srgbClr>
            </a:solidFill>
            <a:prstDash val="solid"/>
            <a:round/>
          </a:ln>
        </p:spPr>
        <p:txBody>
          <a:bodyPr vert="horz" wrap="square" lIns="254000" tIns="254000" rIns="20320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6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1. 已接入的基础能力</a:t>
            </a:r>
            <a:endParaRPr lang="en-US" sz="1100"/>
          </a:p>
          <a:p>
            <a:pPr marL="165100" indent="-165100" algn="l">
              <a:lnSpc>
                <a:spcPct val="125000"/>
              </a:lnSpc>
              <a:buClr>
                <a:srgbClr val="94A3B8"/>
              </a:buClr>
              <a:buChar char="•"/>
            </a:pPr>
            <a:r>
              <a:rPr lang="en-US" sz="13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模型调用能力：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已进入现有推理链路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65100" indent="-165100" algn="l">
              <a:lnSpc>
                <a:spcPct val="125000"/>
              </a:lnSpc>
              <a:buClr>
                <a:srgbClr val="94A3B8"/>
              </a:buClr>
              <a:buChar char="•"/>
            </a:pPr>
            <a:r>
              <a:rPr lang="en-US" sz="13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向量存储能力：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已支撑知识检索与上下文召回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3" name="AutoShape 6"/>
          <p:cNvSpPr/>
          <p:nvPr/>
        </p:nvSpPr>
        <p:spPr>
          <a:xfrm>
            <a:off x="4318000" y="1651000"/>
            <a:ext cx="3556000" cy="2032000"/>
          </a:xfrm>
          <a:prstGeom prst="roundRect">
            <a:avLst>
              <a:gd name="adj" fmla="val 3750"/>
            </a:avLst>
          </a:prstGeom>
          <a:solidFill>
            <a:srgbClr val="1E293B">
              <a:alpha val="40000"/>
            </a:srgbClr>
          </a:solidFill>
          <a:ln w="12700" cap="flat" cmpd="sng">
            <a:solidFill>
              <a:srgbClr val="334155">
                <a:alpha val="80000"/>
              </a:srgbClr>
            </a:solidFill>
            <a:prstDash val="solid"/>
            <a:round/>
          </a:ln>
        </p:spPr>
        <p:txBody>
          <a:bodyPr vert="horz" wrap="square" lIns="254000" tIns="254000" rIns="20320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6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2. 智能体构建与编排能力</a:t>
            </a:r>
            <a:endParaRPr lang="en-US" sz="1100"/>
          </a:p>
          <a:p>
            <a:pPr marL="165100" indent="-165100" algn="l">
              <a:lnSpc>
                <a:spcPct val="125000"/>
              </a:lnSpc>
              <a:buClr>
                <a:srgbClr val="CBD5E1"/>
              </a:buClr>
              <a:buChar char="•"/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评估 RAG、Workflow、Multi-Agent、Prompt / Skill 管理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65100" indent="-165100" algn="l">
              <a:lnSpc>
                <a:spcPct val="125000"/>
              </a:lnSpc>
              <a:buClr>
                <a:srgbClr val="CBD5E1"/>
              </a:buClr>
              <a:buChar char="•"/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对齐评测、发布、调优和运营能力边界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4" name="AutoShape 7"/>
          <p:cNvSpPr/>
          <p:nvPr/>
        </p:nvSpPr>
        <p:spPr>
          <a:xfrm>
            <a:off x="8128000" y="1651000"/>
            <a:ext cx="3556000" cy="2032000"/>
          </a:xfrm>
          <a:prstGeom prst="roundRect">
            <a:avLst>
              <a:gd name="adj" fmla="val 3750"/>
            </a:avLst>
          </a:prstGeom>
          <a:solidFill>
            <a:srgbClr val="1E293B">
              <a:alpha val="40000"/>
            </a:srgbClr>
          </a:solidFill>
          <a:ln w="12700" cap="flat" cmpd="sng">
            <a:solidFill>
              <a:srgbClr val="334155">
                <a:alpha val="80000"/>
              </a:srgbClr>
            </a:solidFill>
            <a:prstDash val="solid"/>
            <a:round/>
          </a:ln>
        </p:spPr>
        <p:txBody>
          <a:bodyPr vert="horz" wrap="square" lIns="254000" tIns="254000" rIns="20320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6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3. 云端运行时与沙箱能力</a:t>
            </a:r>
            <a:endParaRPr lang="en-US" sz="1100"/>
          </a:p>
          <a:p>
            <a:pPr marL="165100" indent="-165100" algn="l">
              <a:lnSpc>
                <a:spcPct val="125000"/>
              </a:lnSpc>
              <a:buClr>
                <a:srgbClr val="CBD5E1"/>
              </a:buClr>
              <a:buChar char="•"/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评估任务隔离、状态持久化、生命周期管理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65100" indent="-165100" algn="l">
              <a:lnSpc>
                <a:spcPct val="125000"/>
              </a:lnSpc>
              <a:buClr>
                <a:srgbClr val="CBD5E1"/>
              </a:buClr>
              <a:buChar char="•"/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评估长任务执行、产物追踪和云端托管边界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5" name="AutoShape 8"/>
          <p:cNvSpPr/>
          <p:nvPr/>
        </p:nvSpPr>
        <p:spPr>
          <a:xfrm>
            <a:off x="508000" y="3937000"/>
            <a:ext cx="5461000" cy="1651000"/>
          </a:xfrm>
          <a:prstGeom prst="roundRect">
            <a:avLst>
              <a:gd name="adj" fmla="val 4615"/>
            </a:avLst>
          </a:prstGeom>
          <a:solidFill>
            <a:srgbClr val="1E293B">
              <a:alpha val="40000"/>
            </a:srgbClr>
          </a:solidFill>
          <a:ln w="12700" cap="flat" cmpd="sng">
            <a:solidFill>
              <a:srgbClr val="A855F7">
                <a:alpha val="60000"/>
              </a:srgbClr>
            </a:solidFill>
            <a:prstDash val="solid"/>
            <a:round/>
          </a:ln>
        </p:spPr>
        <p:txBody>
          <a:bodyPr vert="horz" wrap="square" lIns="254000" tIns="254000" rIns="20320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600" b="1" i="0" u="none" strike="noStrike">
                <a:solidFill>
                  <a:srgbClr val="C084FC"/>
                </a:solidFill>
                <a:latin typeface="Noto Sans SC"/>
                <a:ea typeface="Noto Sans SC"/>
                <a:cs typeface="Noto Sans SC"/>
                <a:sym typeface="Noto Sans SC"/>
              </a:rPr>
              <a:t>4. 办公与研发执行入口能力</a:t>
            </a:r>
            <a:endParaRPr lang="en-US" sz="1100"/>
          </a:p>
          <a:p>
            <a:pPr marL="165100" indent="-165100" algn="l">
              <a:lnSpc>
                <a:spcPct val="125000"/>
              </a:lnSpc>
              <a:buClr>
                <a:srgbClr val="CBD5E1"/>
              </a:buClr>
              <a:buChar char="•"/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借鉴办公任务承接、执行型 Agent 交互形态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65100" indent="-165100" algn="l">
              <a:lnSpc>
                <a:spcPct val="125000"/>
              </a:lnSpc>
              <a:buClr>
                <a:srgbClr val="CBD5E1"/>
              </a:buClr>
              <a:buChar char="•"/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借鉴研发智能体、IDE / CLI / 云端执行链路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6" name="AutoShape 9"/>
          <p:cNvSpPr/>
          <p:nvPr/>
        </p:nvSpPr>
        <p:spPr>
          <a:xfrm>
            <a:off x="6223000" y="3937000"/>
            <a:ext cx="5461000" cy="1651000"/>
          </a:xfrm>
          <a:prstGeom prst="roundRect">
            <a:avLst>
              <a:gd name="adj" fmla="val 4615"/>
            </a:avLst>
          </a:prstGeom>
          <a:solidFill>
            <a:srgbClr val="1E293B">
              <a:alpha val="40000"/>
            </a:srgbClr>
          </a:solidFill>
          <a:ln w="12700" cap="flat" cmpd="sng">
            <a:solidFill>
              <a:srgbClr val="EAB308">
                <a:alpha val="60000"/>
              </a:srgbClr>
            </a:solidFill>
            <a:prstDash val="solid"/>
            <a:round/>
          </a:ln>
        </p:spPr>
        <p:txBody>
          <a:bodyPr vert="horz" wrap="square" lIns="254000" tIns="254000" rIns="20320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sz="1600" b="1" i="0" u="none" strike="noStrike">
                <a:solidFill>
                  <a:srgbClr val="FACC15"/>
                </a:solidFill>
                <a:latin typeface="Noto Sans SC"/>
                <a:ea typeface="Noto Sans SC"/>
                <a:cs typeface="Noto Sans SC"/>
                <a:sym typeface="Noto Sans SC"/>
              </a:rPr>
              <a:t>5. 安全治理与运营能力</a:t>
            </a:r>
            <a:endParaRPr lang="en-US" sz="1100"/>
          </a:p>
          <a:p>
            <a:pPr marL="165100" indent="-165100" algn="l">
              <a:lnSpc>
                <a:spcPct val="125000"/>
              </a:lnSpc>
              <a:buClr>
                <a:srgbClr val="CBD5E1"/>
              </a:buClr>
              <a:buChar char="•"/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对齐权限、审计、HITL、成本、配额和限流治理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65100" indent="-165100" algn="l">
              <a:lnSpc>
                <a:spcPct val="125000"/>
              </a:lnSpc>
              <a:buClr>
                <a:srgbClr val="CBD5E1"/>
              </a:buClr>
              <a:buChar char="•"/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以真实场景试点决定能力复用深度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7" name="AutoShape 10"/>
          <p:cNvSpPr/>
          <p:nvPr/>
        </p:nvSpPr>
        <p:spPr>
          <a:xfrm>
            <a:off x="508000" y="5905500"/>
            <a:ext cx="11176000" cy="571500"/>
          </a:xfrm>
          <a:prstGeom prst="roundRect">
            <a:avLst>
              <a:gd name="adj" fmla="val 8888"/>
            </a:avLst>
          </a:prstGeom>
          <a:solidFill>
            <a:srgbClr val="0F172A">
              <a:alpha val="100000"/>
            </a:srgbClr>
          </a:solidFill>
          <a:ln w="12700" cap="flat" cmpd="sng">
            <a:solidFill>
              <a:srgbClr val="475569">
                <a:alpha val="60000"/>
              </a:srgbClr>
            </a:solidFill>
            <a:prstDash val="solid"/>
            <a:round/>
          </a:ln>
        </p:spPr>
        <p:txBody>
          <a:bodyPr vert="horz" wrap="square" lIns="25400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落位：现阶段是能力层面的“同步演进 + 联合评估 + 分层借力”，不是直接套用某个现成产品。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40000" y="-2540000"/>
            <a:ext cx="7620000" cy="7620000"/>
          </a:xfrm>
          <a:prstGeom prst="ellipse">
            <a:avLst/>
          </a:prstGeom>
          <a:solidFill>
            <a:srgbClr val="38BDF8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444500"/>
            <a:ext cx="1117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团队结构盘点与转型方向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016000"/>
            <a:ext cx="1117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从传统角色分布向 AI Native 能力闭环转型，直面短板，精准补强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524000"/>
            <a:ext cx="3937000" cy="4318000"/>
          </a:xfrm>
          <a:prstGeom prst="roundRect">
            <a:avLst>
              <a:gd name="adj" fmla="val 2580"/>
            </a:avLst>
          </a:prstGeom>
          <a:solidFill>
            <a:srgbClr val="1E293B">
              <a:alpha val="40000"/>
            </a:srgbClr>
          </a:solidFill>
          <a:ln w="12700" cap="flat" cmpd="sng">
            <a:solidFill>
              <a:srgbClr val="334155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508000" y="1524000"/>
          <a:ext cx="3937000" cy="4292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89000"/>
                <a:gridCol w="1524000"/>
                <a:gridCol w="1524000"/>
              </a:tblGrid>
              <a:tr h="482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94A3B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姓名</a:t>
                      </a:r>
                      <a:endParaRPr lang="en-US" sz="1100"/>
                    </a:p>
                  </a:txBody>
                  <a:tcPr marL="2032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94A3B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新职位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94A3B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原职位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刘超</a:t>
                      </a:r>
                      <a:endParaRPr lang="en-US" sz="1100"/>
                    </a:p>
                  </a:txBody>
                  <a:tcPr marL="2032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8BDF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战队负责人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94A3B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开发组负责人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孙达</a:t>
                      </a:r>
                      <a:endParaRPr lang="en-US" sz="1100"/>
                    </a:p>
                  </a:txBody>
                  <a:tcPr marL="2032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高级产品经理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94A3B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高级产品经理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张雅芳</a:t>
                      </a:r>
                      <a:endParaRPr lang="en-US" sz="1100"/>
                    </a:p>
                  </a:txBody>
                  <a:tcPr marL="2032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高级UX设计师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94A3B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高级UX设计师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程其鹏</a:t>
                      </a:r>
                      <a:endParaRPr lang="en-US" sz="1100"/>
                    </a:p>
                  </a:txBody>
                  <a:tcPr marL="2032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高级智能架构师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94A3B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高级架构师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张泽森</a:t>
                      </a:r>
                      <a:endParaRPr lang="en-US" sz="1100"/>
                    </a:p>
                  </a:txBody>
                  <a:tcPr marL="2032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智能架构师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94A3B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高级后端工程师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焦兴柱</a:t>
                      </a:r>
                      <a:endParaRPr lang="en-US" sz="1100"/>
                    </a:p>
                  </a:txBody>
                  <a:tcPr marL="2032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智能架构师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94A3B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架构师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李胜辉</a:t>
                      </a:r>
                      <a:endParaRPr lang="en-US" sz="1100"/>
                    </a:p>
                  </a:txBody>
                  <a:tcPr marL="2032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智能研发工程师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94A3B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前端开发工程师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王超</a:t>
                      </a:r>
                      <a:endParaRPr lang="en-US" sz="1100"/>
                    </a:p>
                  </a:txBody>
                  <a:tcPr marL="2032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高级智能研发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94A3B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高级前端开发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何洁</a:t>
                      </a:r>
                      <a:endParaRPr lang="en-US" sz="1100"/>
                    </a:p>
                  </a:txBody>
                  <a:tcPr marL="2032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高级智能研发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94A3B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高级测试工程师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1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毛振</a:t>
                      </a:r>
                      <a:endParaRPr lang="en-US" sz="1100"/>
                    </a:p>
                  </a:txBody>
                  <a:tcPr marL="2032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智能研发工程师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94A3B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测试工程师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4699000" y="1524000"/>
            <a:ext cx="6985000" cy="4318000"/>
          </a:xfrm>
          <a:prstGeom prst="roundRect">
            <a:avLst>
              <a:gd name="adj" fmla="val 2352"/>
            </a:avLst>
          </a:prstGeom>
          <a:solidFill>
            <a:srgbClr val="1E293B">
              <a:alpha val="40000"/>
            </a:srgbClr>
          </a:solidFill>
          <a:ln w="12700" cap="flat" cmpd="sng">
            <a:solidFill>
              <a:srgbClr val="334155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4699000" y="1524000"/>
          <a:ext cx="6985000" cy="4292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51000"/>
                <a:gridCol w="1270000"/>
                <a:gridCol w="2032000"/>
                <a:gridCol w="2032000"/>
              </a:tblGrid>
              <a:tr h="4826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94A3B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能力域</a:t>
                      </a:r>
                      <a:endParaRPr lang="en-US" sz="1100"/>
                    </a:p>
                  </a:txBody>
                  <a:tcPr marL="254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94A3B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当前状态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94A3B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明显短板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94A3B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转型 / 补强方式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52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Agent Core /</a:t>
                      </a:r>
                      <a:br>
                        <a:rPr lang="en-US" sz="14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sz="14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Runtime</a:t>
                      </a:r>
                      <a:endParaRPr lang="en-US" sz="1100"/>
                    </a:p>
                  </a:txBody>
                  <a:tcPr marL="254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有核心研发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F1F5F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复杂运行时和稳定性经验</a:t>
                      </a:r>
                      <a:r>
                        <a:rPr lang="en-US" sz="1200" b="0" i="0" u="none" strike="noStrike">
                          <a:solidFill>
                            <a:srgbClr val="FB92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仍需加强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8BDF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骨干专项负责</a:t>
                      </a:r>
                      <a:r>
                        <a:rPr lang="en-US" sz="1200" b="0" i="0" u="none" strike="noStrike">
                          <a:solidFill>
                            <a:srgbClr val="F1F5F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，</a:t>
                      </a:r>
                      <a:br>
                        <a:rPr lang="en-US" sz="1200" b="0" i="0" u="none" strike="noStrike">
                          <a:solidFill>
                            <a:srgbClr val="F1F5F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sz="1200" b="0" i="0" u="none" strike="noStrike">
                          <a:solidFill>
                            <a:srgbClr val="F1F5F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补平台架构能力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52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 Native UX</a:t>
                      </a:r>
                      <a:endParaRPr lang="en-US" sz="1100"/>
                    </a:p>
                  </a:txBody>
                  <a:tcPr marL="254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有设计能力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F1F5F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需要从传统 UI 转向</a:t>
                      </a:r>
                      <a:br>
                        <a:rPr lang="en-US" sz="1200" b="0" i="0" u="none" strike="noStrike">
                          <a:solidFill>
                            <a:srgbClr val="F1F5F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sz="1200" b="0" i="0" u="none" strike="noStrike">
                          <a:solidFill>
                            <a:srgbClr val="FB92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AG-UI / 对话式交互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8BDF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建立 AI 原生体验规范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52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评测与运营</a:t>
                      </a:r>
                      <a:endParaRPr lang="en-US" sz="1100"/>
                    </a:p>
                  </a:txBody>
                  <a:tcPr marL="254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有测试角色基础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F1F5F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效果评估、数据运营</a:t>
                      </a:r>
                      <a:r>
                        <a:rPr lang="en-US" sz="1200" b="0" i="0" u="none" strike="noStrike">
                          <a:solidFill>
                            <a:srgbClr val="FB92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能力不足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8BDF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测试转评测工程</a:t>
                      </a:r>
                      <a:r>
                        <a:rPr lang="en-US" sz="1200" b="0" i="0" u="none" strike="noStrike">
                          <a:solidFill>
                            <a:srgbClr val="F1F5F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+</a:t>
                      </a:r>
                      <a:br>
                        <a:rPr lang="en-US" sz="1200" b="0" i="0" u="none" strike="noStrike">
                          <a:solidFill>
                            <a:srgbClr val="F1F5F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sz="1200" b="0" i="0" u="none" strike="noStrike">
                          <a:solidFill>
                            <a:srgbClr val="F1F5F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引入数据分析机制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52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产品商业化</a:t>
                      </a:r>
                      <a:endParaRPr lang="en-US" sz="1100"/>
                    </a:p>
                  </a:txBody>
                  <a:tcPr marL="254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有产品牵头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F1F5F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定价、资源计量、</a:t>
                      </a:r>
                      <a:br>
                        <a:rPr lang="en-US" sz="1200" b="0" i="0" u="none" strike="noStrike">
                          <a:solidFill>
                            <a:srgbClr val="F1F5F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sz="1200" b="0" i="0" u="none" strike="noStrike">
                          <a:solidFill>
                            <a:srgbClr val="F1F5F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客户价值证明</a:t>
                      </a:r>
                      <a:r>
                        <a:rPr lang="en-US" sz="1200" b="0" i="0" u="none" strike="noStrike">
                          <a:solidFill>
                            <a:srgbClr val="FB92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不足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8BDF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和商业化/运营团队</a:t>
                      </a:r>
                      <a:br>
                        <a:rPr lang="en-US" sz="1200" b="0" i="0" u="none" strike="noStrike">
                          <a:solidFill>
                            <a:srgbClr val="F1F5F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sz="1200" b="0" i="0" u="none" strike="noStrike">
                          <a:solidFill>
                            <a:srgbClr val="38BDF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共建指标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AutoShape 9"/>
          <p:cNvSpPr/>
          <p:nvPr/>
        </p:nvSpPr>
        <p:spPr>
          <a:xfrm>
            <a:off x="508000" y="6032500"/>
            <a:ext cx="11176000" cy="508000"/>
          </a:xfrm>
          <a:prstGeom prst="roundRect">
            <a:avLst>
              <a:gd name="adj" fmla="val 10000"/>
            </a:avLst>
          </a:prstGeom>
          <a:solidFill>
            <a:srgbClr val="0F172A">
              <a:alpha val="10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转型核心</a:t>
            </a:r>
            <a:r>
              <a:rPr lang="en-US" sz="13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：摆脱“单点功能支持”思维，围绕 Agent 端到端闭环，引入评测、UX、商业化等综合能力。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40000" y="-2540000"/>
            <a:ext cx="7620000" cy="7620000"/>
          </a:xfrm>
          <a:prstGeom prst="ellipse">
            <a:avLst/>
          </a:prstGeom>
          <a:solidFill>
            <a:srgbClr val="38BDF8">
              <a:alpha val="4000"/>
            </a:srgbClr>
          </a:solidFill>
          <a:ln w="12700" cap="flat" cmpd="sng">
            <a:solidFill>
              <a:srgbClr val="38BDF8">
                <a:alpha val="1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0" y="1270000"/>
            <a:ext cx="8890000" cy="8890000"/>
          </a:xfrm>
          <a:prstGeom prst="ellipse">
            <a:avLst/>
          </a:prstGeom>
          <a:solidFill>
            <a:srgbClr val="A855F7">
              <a:alpha val="3000"/>
            </a:srgbClr>
          </a:solidFill>
          <a:ln w="12700" cap="flat" cmpd="sng">
            <a:solidFill>
              <a:srgbClr val="A855F7">
                <a:alpha val="1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PART 2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286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560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当前工作重心及短期目标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40969" y="3556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26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三线并行支撑，沉淀健壮 AI Native 平台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318000"/>
            <a:ext cx="990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5-8 月不是只支撑单一业务项目，而是在销售智能、渠道智能、服务智能三条业务线的真实场景中，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快速验证 Agent 平台能力，并把共性需求沉淀为统一底座。</a:t>
            </a:r>
            <a:endParaRPr lang="en-US" sz="16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16000" y="5461000"/>
            <a:ext cx="9652000" cy="762000"/>
          </a:xfrm>
          <a:prstGeom prst="roundRect">
            <a:avLst>
              <a:gd name="adj" fmla="val 10000"/>
            </a:avLst>
          </a:prstGeom>
          <a:solidFill>
            <a:srgbClr val="38BDF8">
              <a:alpha val="1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三线并行的战略意义，是用真实的业务压力倒逼平台抽象共性，让能力更通用可复制。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556000"/>
            <a:ext cx="50800" cy="508000"/>
          </a:xfrm>
          <a:prstGeom prst="roundRect">
            <a:avLst>
              <a:gd name="adj" fmla="val 7500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8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850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核心战役：同步支撑三大 Agent 业务，边打边沉淀平台能力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952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AI Native 平台团队的当前战役，不是单点支撑某一个业务项目，而是同步支撑销售智能、渠道智能、服务智能三个上层 Agent 业务团队。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14500"/>
            <a:ext cx="3302000" cy="3302000"/>
          </a:xfrm>
          <a:prstGeom prst="roundRect">
            <a:avLst>
              <a:gd name="adj" fmla="val 2307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14500"/>
            <a:ext cx="3302000" cy="571500"/>
          </a:xfrm>
          <a:prstGeom prst="roundRect">
            <a:avLst>
              <a:gd name="adj" fmla="val 13333"/>
            </a:avLst>
          </a:prstGeom>
          <a:solidFill>
            <a:srgbClr val="38BDF8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销售智能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413000"/>
            <a:ext cx="2921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spcBef>
                <a:spcPts val="400"/>
              </a:spcBef>
              <a:defRPr/>
            </a:pPr>
            <a:r>
              <a:rPr lang="en-US" sz="13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验证重点：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高频用户、商业化压力、工作台与赢单闭环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1600"/>
              </a:spcBef>
            </a:pPr>
            <a:r>
              <a:rPr lang="en-US" sz="13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平台沉淀：</a:t>
            </a:r>
            <a:endParaRPr lang="en-US" sz="1300" b="1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3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AG-UI、核心 Skill、记忆、评测、Trust Layer</a:t>
            </a:r>
            <a:endParaRPr lang="en-US" sz="1300" b="1" i="0" u="none" strike="noStrike">
              <a:solidFill>
                <a:srgbClr val="38BDF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445000" y="1714500"/>
            <a:ext cx="3302000" cy="3302000"/>
          </a:xfrm>
          <a:prstGeom prst="roundRect">
            <a:avLst>
              <a:gd name="adj" fmla="val 2307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445000" y="1714500"/>
            <a:ext cx="3302000" cy="571500"/>
          </a:xfrm>
          <a:prstGeom prst="roundRect">
            <a:avLst>
              <a:gd name="adj" fmla="val 13333"/>
            </a:avLst>
          </a:prstGeom>
          <a:solidFill>
            <a:srgbClr val="8B5CF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渠道智能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635500" y="2413000"/>
            <a:ext cx="2921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spcBef>
                <a:spcPts val="400"/>
              </a:spcBef>
              <a:defRPr/>
            </a:pPr>
            <a:r>
              <a:rPr lang="en-US" sz="13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验证重点：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跨组织协同、外部数据、伙伴场景执行链路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1600"/>
              </a:spcBef>
            </a:pPr>
            <a:r>
              <a:rPr lang="en-US" sz="13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平台沉淀：</a:t>
            </a:r>
            <a:endParaRPr lang="en-US" sz="1300" b="1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3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API / MCP、外部能力接入、权限边界、生态治理</a:t>
            </a:r>
            <a:endParaRPr lang="en-US" sz="1300" b="1" i="0" u="none" strike="noStrike">
              <a:solidFill>
                <a:srgbClr val="8B5CF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128000" y="1714500"/>
            <a:ext cx="3302000" cy="3302000"/>
          </a:xfrm>
          <a:prstGeom prst="roundRect">
            <a:avLst>
              <a:gd name="adj" fmla="val 2307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8128000" y="1714500"/>
            <a:ext cx="3302000" cy="571500"/>
          </a:xfrm>
          <a:prstGeom prst="roundRect">
            <a:avLst>
              <a:gd name="adj" fmla="val 13333"/>
            </a:avLst>
          </a:prstGeom>
          <a:solidFill>
            <a:srgbClr val="2DD4B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服务智能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318500" y="2413000"/>
            <a:ext cx="2921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spcBef>
                <a:spcPts val="400"/>
              </a:spcBef>
              <a:defRPr/>
            </a:pPr>
            <a:r>
              <a:rPr lang="en-US" sz="13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验证重点：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知识检索、回复策略、客户问题闭环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3300"/>
              </a:spcBef>
            </a:pPr>
            <a:r>
              <a:rPr lang="en-US" sz="13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平台沉淀：</a:t>
            </a:r>
            <a:endParaRPr lang="en-US" sz="1300" b="1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3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RAG 原子能力、知识引用、质量评估、运营反馈</a:t>
            </a:r>
            <a:endParaRPr lang="en-US" sz="1300" b="1" i="0" u="none" strike="noStrike">
              <a:solidFill>
                <a:srgbClr val="2DD4B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461000"/>
            <a:ext cx="10668000" cy="584200"/>
          </a:xfrm>
          <a:prstGeom prst="roundRect">
            <a:avLst>
              <a:gd name="adj" fmla="val 13043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475569">
                <a:alpha val="8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三线并行的意义，不是三套项目同时推进，而是在真实场景中</a:t>
            </a:r>
            <a:r>
              <a:rPr lang="en-US" sz="16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快速抽象共性能力</a:t>
            </a:r>
            <a:r>
              <a:rPr lang="en-US" sz="15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，让平台更通用可复制。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8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850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当前成熟度：AI Native 2.0 已可用，但尚未“全面好用”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952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lnSpcReduction="10000"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当前平台已完成从 0 到 1：基础组件、模型接入、Agent 交互链路和首批场景已跑通。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但要支撑三个上层业务团队持续迭代，还必须在以下五个维度实现飞跃：</a:t>
            </a:r>
            <a:endParaRPr lang="en-US" sz="14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714500"/>
            <a:ext cx="10668000" cy="635000"/>
          </a:xfrm>
          <a:prstGeom prst="roundRect">
            <a:avLst>
              <a:gd name="adj" fmla="val 800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475569">
                <a:alpha val="50000"/>
              </a:srgbClr>
            </a:solidFill>
            <a:prstDash val="solid"/>
            <a:round/>
          </a:ln>
        </p:spPr>
        <p:txBody>
          <a:bodyPr vert="horz" wrap="square" lIns="152400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复杂多轮任务、长链路调用、模型切换下仍能稳定运行，减少边界 case。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14500"/>
            <a:ext cx="1270000" cy="635000"/>
          </a:xfrm>
          <a:prstGeom prst="roundRect">
            <a:avLst>
              <a:gd name="adj" fmla="val 8000"/>
            </a:avLst>
          </a:prstGeom>
          <a:solidFill>
            <a:srgbClr val="38BDF8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稳定性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76500"/>
            <a:ext cx="10668000" cy="635000"/>
          </a:xfrm>
          <a:prstGeom prst="roundRect">
            <a:avLst>
              <a:gd name="adj" fmla="val 800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475569">
                <a:alpha val="50000"/>
              </a:srgbClr>
            </a:solidFill>
            <a:prstDash val="solid"/>
            <a:round/>
          </a:ln>
        </p:spPr>
        <p:txBody>
          <a:bodyPr vert="horz" wrap="square" lIns="152400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同一 Tool / Skill / Prompt / 原子能力能跨销售、渠道、服务多场景复用。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476500"/>
            <a:ext cx="1270000" cy="635000"/>
          </a:xfrm>
          <a:prstGeom prst="roundRect">
            <a:avLst>
              <a:gd name="adj" fmla="val 8000"/>
            </a:avLst>
          </a:prstGeom>
          <a:solidFill>
            <a:srgbClr val="60A5FA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复用性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238500"/>
            <a:ext cx="10668000" cy="635000"/>
          </a:xfrm>
          <a:prstGeom prst="roundRect">
            <a:avLst>
              <a:gd name="adj" fmla="val 800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475569">
                <a:alpha val="50000"/>
              </a:srgbClr>
            </a:solidFill>
            <a:prstDash val="solid"/>
            <a:round/>
          </a:ln>
        </p:spPr>
        <p:txBody>
          <a:bodyPr vert="horz" wrap="square" lIns="152400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每次 Prompt、Skill、模型策略变化，都能通过标准评估集验证。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238500"/>
            <a:ext cx="1270000" cy="635000"/>
          </a:xfrm>
          <a:prstGeom prst="roundRect">
            <a:avLst>
              <a:gd name="adj" fmla="val 8000"/>
            </a:avLst>
          </a:prstGeom>
          <a:solidFill>
            <a:srgbClr val="8B5CF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可评估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000500"/>
            <a:ext cx="10668000" cy="635000"/>
          </a:xfrm>
          <a:prstGeom prst="roundRect">
            <a:avLst>
              <a:gd name="adj" fmla="val 800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475569">
                <a:alpha val="50000"/>
              </a:srgbClr>
            </a:solidFill>
            <a:prstDash val="solid"/>
            <a:round/>
          </a:ln>
        </p:spPr>
        <p:txBody>
          <a:bodyPr vert="horz" wrap="square" lIns="152400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线上问题、客户反馈、成本消耗能被持续追踪和闭环。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000500"/>
            <a:ext cx="1270000" cy="635000"/>
          </a:xfrm>
          <a:prstGeom prst="roundRect">
            <a:avLst>
              <a:gd name="adj" fmla="val 8000"/>
            </a:avLst>
          </a:prstGeom>
          <a:solidFill>
            <a:srgbClr val="A855F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可运营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762500"/>
            <a:ext cx="10668000" cy="635000"/>
          </a:xfrm>
          <a:prstGeom prst="roundRect">
            <a:avLst>
              <a:gd name="adj" fmla="val 800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475569">
                <a:alpha val="50000"/>
              </a:srgbClr>
            </a:solidFill>
            <a:prstDash val="solid"/>
            <a:round/>
          </a:ln>
        </p:spPr>
        <p:txBody>
          <a:bodyPr vert="horz" wrap="square" lIns="152400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权限、审计、HITL 人机协同、脱敏、外部工具接入都能统一管控。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762500"/>
            <a:ext cx="1270000" cy="635000"/>
          </a:xfrm>
          <a:prstGeom prst="roundRect">
            <a:avLst>
              <a:gd name="adj" fmla="val 8000"/>
            </a:avLst>
          </a:prstGeom>
          <a:solidFill>
            <a:srgbClr val="EC4899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可治理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651500"/>
            <a:ext cx="10668000" cy="584200"/>
          </a:xfrm>
          <a:prstGeom prst="roundRect">
            <a:avLst>
              <a:gd name="adj" fmla="val 13043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475569">
                <a:alpha val="8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当前重点不是继续堆 Agent 数量，而是</a:t>
            </a:r>
            <a:r>
              <a:rPr lang="en-US" sz="16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把已可用的底座打磨成稳定平台能力</a:t>
            </a:r>
            <a:r>
              <a:rPr lang="en-US" sz="15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8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850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当前短板：三线并行暴露的是平台共性短板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952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同步支撑三条业务线，会快速暴露平台底座在稳定性、治理和复用上的深层不足。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8750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EF4444">
                <a:alpha val="4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87500"/>
            <a:ext cx="76200" cy="17145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6510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稳定性不足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2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表现：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链路长、接口依赖多，边界 case 频发</a:t>
            </a:r>
            <a:endParaRPr lang="en-US" sz="12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2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影响：</a:t>
            </a:r>
            <a:r>
              <a:rPr lang="en-US" sz="1200" b="0" i="0" u="none" strike="noStrike">
                <a:solidFill>
                  <a:srgbClr val="F87171"/>
                </a:solidFill>
                <a:latin typeface="Noto Sans SC"/>
                <a:ea typeface="Noto Sans SC"/>
                <a:cs typeface="Noto Sans SC"/>
                <a:sym typeface="Noto Sans SC"/>
              </a:rPr>
              <a:t>业务线不敢把关键流程交给 Agent</a:t>
            </a:r>
            <a:endParaRPr lang="en-US" sz="1200" b="0" i="0" u="none" strike="noStrike">
              <a:solidFill>
                <a:srgbClr val="F8717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86500" y="158750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F97316">
                <a:alpha val="4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286500" y="1587500"/>
            <a:ext cx="76200" cy="1714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540500" y="16510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评测缺位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2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表现：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缺少统一评估集、回放机制和基线</a:t>
            </a:r>
            <a:endParaRPr lang="en-US" sz="12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2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影响：</a:t>
            </a:r>
            <a:r>
              <a:rPr lang="en-US" sz="1200" b="0" i="0" u="none" strike="noStrike">
                <a:solidFill>
                  <a:srgbClr val="FDBA74"/>
                </a:solidFill>
                <a:latin typeface="Noto Sans SC"/>
                <a:ea typeface="Noto Sans SC"/>
                <a:cs typeface="Noto Sans SC"/>
                <a:sym typeface="Noto Sans SC"/>
              </a:rPr>
              <a:t>迭代效果无法证明，线上问题容易反复</a:t>
            </a:r>
            <a:endParaRPr lang="en-US" sz="1200" b="0" i="0" u="none" strike="noStrike">
              <a:solidFill>
                <a:srgbClr val="FDBA7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355600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EAB308">
                <a:alpha val="4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3556000"/>
            <a:ext cx="76200" cy="1714500"/>
          </a:xfrm>
          <a:prstGeom prst="roundRect">
            <a:avLst>
              <a:gd name="adj" fmla="val 0"/>
            </a:avLst>
          </a:prstGeom>
          <a:solidFill>
            <a:srgbClr val="EAB30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16000" y="36195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EAB308"/>
                </a:solidFill>
                <a:latin typeface="Noto Sans SC"/>
                <a:ea typeface="Noto Sans SC"/>
                <a:cs typeface="Noto Sans SC"/>
                <a:sym typeface="Noto Sans SC"/>
              </a:rPr>
              <a:t>治理体系弱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2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表现：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版本控制、权限、审计、Tracing 不完整</a:t>
            </a:r>
            <a:endParaRPr lang="en-US" sz="12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2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影响：</a:t>
            </a:r>
            <a:r>
              <a:rPr lang="en-US" sz="1200" b="0" i="0" u="none" strike="noStrike">
                <a:solidFill>
                  <a:srgbClr val="FDE047"/>
                </a:solidFill>
                <a:latin typeface="Noto Sans SC"/>
                <a:ea typeface="Noto Sans SC"/>
                <a:cs typeface="Noto Sans SC"/>
                <a:sym typeface="Noto Sans SC"/>
              </a:rPr>
              <a:t>大客户和商业化场景风险不可控</a:t>
            </a:r>
            <a:endParaRPr lang="en-US" sz="1200" b="0" i="0" u="none" strike="noStrike">
              <a:solidFill>
                <a:srgbClr val="FDE047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86500" y="3556000"/>
            <a:ext cx="5143500" cy="1714500"/>
          </a:xfrm>
          <a:prstGeom prst="roundRect">
            <a:avLst>
              <a:gd name="adj" fmla="val 4444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A855F7">
                <a:alpha val="4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286500" y="3556000"/>
            <a:ext cx="76200" cy="17145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540500" y="36195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复用门槛高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2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表现：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定制化逻辑太多，共性能力沉淀不足</a:t>
            </a:r>
            <a:endParaRPr lang="en-US" sz="12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2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影响：</a:t>
            </a:r>
            <a:r>
              <a:rPr lang="en-US" sz="1200" b="0" i="0" u="none" strike="noStrike">
                <a:solidFill>
                  <a:srgbClr val="D8B4FE"/>
                </a:solidFill>
                <a:latin typeface="Noto Sans SC"/>
                <a:ea typeface="Noto Sans SC"/>
                <a:cs typeface="Noto Sans SC"/>
                <a:sym typeface="Noto Sans SC"/>
              </a:rPr>
              <a:t>每条业务线都像重新做一遍，效率极低</a:t>
            </a:r>
            <a:endParaRPr lang="en-US" sz="1200" b="0" i="0" u="none" strike="noStrike">
              <a:solidFill>
                <a:srgbClr val="D8B4F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5651500"/>
            <a:ext cx="10668000" cy="584200"/>
          </a:xfrm>
          <a:prstGeom prst="roundRect">
            <a:avLst>
              <a:gd name="adj" fmla="val 13043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475569">
                <a:alpha val="8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三线并行不是增加项目负担，而是</a:t>
            </a:r>
            <a:r>
              <a:rPr lang="en-US" sz="16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用真实业务压力倒逼平台补齐短板</a:t>
            </a:r>
            <a:r>
              <a:rPr lang="en-US" sz="15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8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270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5-8 月三线并行路线图：支撑业务交付，沉淀平台能力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952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每个月同步交付业务结果与平台资产，确保在 8 月实现高质量的高可用版本。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43000" y="2032000"/>
            <a:ext cx="9906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38BDF8">
                  <a:alpha val="100000"/>
                </a:srgbClr>
              </a:gs>
              <a:gs pos="100000">
                <a:srgbClr val="8B5CF6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524000" y="1905000"/>
            <a:ext cx="304800" cy="304800"/>
          </a:xfrm>
          <a:prstGeom prst="ellipse">
            <a:avLst/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33400" y="1397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5 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33400" y="2413000"/>
            <a:ext cx="2286000" cy="3048000"/>
          </a:xfrm>
          <a:prstGeom prst="roundRect">
            <a:avLst>
              <a:gd name="adj" fmla="val 3333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</a:ln>
        </p:spPr>
        <p:txBody>
          <a:bodyPr vert="horz" wrap="square" lIns="127000" tIns="127000" rIns="12700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业务侧目标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销售智能工作台 Beta；渠道/服务首批场景接入</a:t>
            </a:r>
            <a:endParaRPr lang="en-US" sz="1200" b="0" i="0" u="none" strike="noStrike">
              <a:solidFill>
                <a:srgbClr val="F8FAF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平台侧目标</a:t>
            </a:r>
            <a:endParaRPr lang="en-US" sz="1300" b="1" i="0" u="none" strike="noStrike">
              <a:solidFill>
                <a:srgbClr val="38BDF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Agent 2.0 最小闭环、AG-UI、首批 Skill、基础 HITL</a:t>
            </a:r>
            <a:endParaRPr lang="en-US" sz="12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191000" y="1905000"/>
            <a:ext cx="304800" cy="304800"/>
          </a:xfrm>
          <a:prstGeom prst="ellipse">
            <a:avLst/>
          </a:prstGeom>
          <a:solidFill>
            <a:srgbClr val="60A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200400" y="1397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6 月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200400" y="2413000"/>
            <a:ext cx="2286000" cy="3048000"/>
          </a:xfrm>
          <a:prstGeom prst="roundRect">
            <a:avLst>
              <a:gd name="adj" fmla="val 3333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60A5FA">
                <a:alpha val="40000"/>
              </a:srgbClr>
            </a:solidFill>
            <a:prstDash val="solid"/>
            <a:round/>
          </a:ln>
        </p:spPr>
        <p:txBody>
          <a:bodyPr vert="horz" wrap="square" lIns="127000" tIns="127000" rIns="12700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业务侧目标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销售赢单闭环；渠道/服务关键 Skill 打样</a:t>
            </a:r>
            <a:endParaRPr lang="en-US" sz="1200" b="0" i="0" u="none" strike="noStrike">
              <a:solidFill>
                <a:srgbClr val="F8FAF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平台侧目标</a:t>
            </a:r>
            <a:endParaRPr lang="en-US" sz="1300" b="1" i="0" u="none" strike="noStrike">
              <a:solidFill>
                <a:srgbClr val="60A5FA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Skill 编排/定义、Prompt 版本控制、基础 Tracing</a:t>
            </a:r>
            <a:endParaRPr lang="en-US" sz="12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858000" y="1905000"/>
            <a:ext cx="304800" cy="304800"/>
          </a:xfrm>
          <a:prstGeom prst="ellipse">
            <a:avLst/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867400" y="1397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B5CF6"/>
                </a:solidFill>
                <a:latin typeface="Inter"/>
                <a:ea typeface="Inter"/>
                <a:cs typeface="Inter"/>
                <a:sym typeface="Inter"/>
              </a:rPr>
              <a:t>7 月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867400" y="2413000"/>
            <a:ext cx="2286000" cy="3048000"/>
          </a:xfrm>
          <a:prstGeom prst="roundRect">
            <a:avLst>
              <a:gd name="adj" fmla="val 3333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127000" tIns="127000" rIns="12700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业务侧目标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移动端、外部调用、跨线复制准备</a:t>
            </a:r>
            <a:endParaRPr lang="en-US" sz="1200" b="0" i="0" u="none" strike="noStrike">
              <a:solidFill>
                <a:srgbClr val="F8FAF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平台侧目标</a:t>
            </a:r>
            <a:endParaRPr lang="en-US" sz="1300" b="1" i="0" u="none" strike="noStrike">
              <a:solidFill>
                <a:srgbClr val="8B5CF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移动 AG-UI、多模态原子能力、API/MCP 标准接入</a:t>
            </a:r>
            <a:endParaRPr lang="en-US" sz="12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9525000" y="1905000"/>
            <a:ext cx="304800" cy="304800"/>
          </a:xfrm>
          <a:prstGeom prst="ellipse">
            <a:avLst/>
          </a:prstGeom>
          <a:solidFill>
            <a:srgbClr val="A855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534400" y="1397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8 月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534400" y="2413000"/>
            <a:ext cx="2286000" cy="3048000"/>
          </a:xfrm>
          <a:prstGeom prst="roundRect">
            <a:avLst>
              <a:gd name="adj" fmla="val 3333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A855F7">
                <a:alpha val="40000"/>
              </a:srgbClr>
            </a:solidFill>
            <a:prstDash val="solid"/>
            <a:round/>
          </a:ln>
        </p:spPr>
        <p:txBody>
          <a:bodyPr vert="horz" wrap="square" lIns="127000" tIns="127000" rIns="12700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业务侧目标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2608 GA；标杆客户深度使用；三线能力复盘</a:t>
            </a:r>
            <a:endParaRPr lang="en-US" sz="1200" b="0" i="0" u="none" strike="noStrike">
              <a:solidFill>
                <a:srgbClr val="F8FAF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平台侧目标</a:t>
            </a:r>
            <a:endParaRPr lang="en-US" sz="1300" b="1" i="0" u="none" strike="noStrike">
              <a:solidFill>
                <a:srgbClr val="A855F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Agent 迁移治理、评估周报、Trust Layer、成本归因与资产沉淀</a:t>
            </a:r>
            <a:endParaRPr lang="en-US" sz="12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5778500"/>
            <a:ext cx="10668000" cy="584200"/>
          </a:xfrm>
          <a:prstGeom prst="roundRect">
            <a:avLst>
              <a:gd name="adj" fmla="val 13043"/>
            </a:avLst>
          </a:prstGeom>
          <a:solidFill>
            <a:srgbClr val="8B5CF6">
              <a:alpha val="10000"/>
            </a:srgbClr>
          </a:solidFill>
          <a:ln w="12700" cap="flat" cmpd="sng">
            <a:solidFill>
              <a:srgbClr val="8B5CF6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每个月都要同时交付业务结果和平台资产：</a:t>
            </a:r>
            <a:r>
              <a:rPr lang="en-US" sz="1500" b="1" i="0" u="none" strike="noStrike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业务线要看到可用，平台侧要沉淀可复用</a:t>
            </a:r>
            <a:r>
              <a:rPr lang="en-US" sz="1500" b="0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8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850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平台侧短期交付清单：支撑三线业务，也沉淀共性底座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952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短期交付不是盲目堆砌功能，而是用三线业务的真实需求压实这五大平台能力。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87500"/>
            <a:ext cx="3302000" cy="1905000"/>
          </a:xfrm>
          <a:prstGeom prst="roundRect">
            <a:avLst>
              <a:gd name="adj" fmla="val 400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</a:ln>
        </p:spPr>
        <p:txBody>
          <a:bodyPr vert="horz" wrap="square" lIns="190500" tIns="190500" rIns="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1. 运行底座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● Agent 1.0 → 2.0 收敛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● Runtime 稳定性提升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● 多轮复杂任务状态管理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4445000" y="1587500"/>
            <a:ext cx="3302000" cy="1905000"/>
          </a:xfrm>
          <a:prstGeom prst="roundRect">
            <a:avLst>
              <a:gd name="adj" fmla="val 400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60A5FA">
                <a:alpha val="40000"/>
              </a:srgbClr>
            </a:solidFill>
            <a:prstDash val="solid"/>
            <a:round/>
          </a:ln>
        </p:spPr>
        <p:txBody>
          <a:bodyPr vert="horz" wrap="square" lIns="190500" tIns="190500" rIns="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2. 交互体验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● AG-UI 标准组件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● PC / 移动端一致体验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● 无终端场景下的 API 支持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8128000" y="1587500"/>
            <a:ext cx="3302000" cy="1905000"/>
          </a:xfrm>
          <a:prstGeom prst="roundRect">
            <a:avLst>
              <a:gd name="adj" fmla="val 400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190500" tIns="190500" rIns="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3. 能力复用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● Skill 接入规范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● Tool / Prompt 版本化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● 记忆与 AI 原子能力挂载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2095500" y="3683000"/>
            <a:ext cx="3810000" cy="1905000"/>
          </a:xfrm>
          <a:prstGeom prst="roundRect">
            <a:avLst>
              <a:gd name="adj" fmla="val 400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EC4899">
                <a:alpha val="40000"/>
              </a:srgbClr>
            </a:solidFill>
            <a:prstDash val="solid"/>
            <a:round/>
          </a:ln>
        </p:spPr>
        <p:txBody>
          <a:bodyPr vert="horz" wrap="square" lIns="190500" tIns="190500" rIns="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4. 质量治理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● Tracing 追溯与评估集建设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● 成功率、幻觉率监控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● 响应耗时、人工接管率周报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86500" y="3683000"/>
            <a:ext cx="3810000" cy="1905000"/>
          </a:xfrm>
          <a:prstGeom prst="roundRect">
            <a:avLst>
              <a:gd name="adj" fmla="val 400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F59E0B">
                <a:alpha val="40000"/>
              </a:srgbClr>
            </a:solidFill>
            <a:prstDash val="solid"/>
            <a:round/>
          </a:ln>
        </p:spPr>
        <p:txBody>
          <a:bodyPr vert="horz" wrap="square" lIns="190500" tIns="190500" rIns="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5. 安全可信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● HITL 人机协同断点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● Trust Layer 信任层管控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● 脱敏、限流、意图拦截、审计留痕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5905500"/>
            <a:ext cx="10668000" cy="584200"/>
          </a:xfrm>
          <a:prstGeom prst="roundRect">
            <a:avLst>
              <a:gd name="adj" fmla="val 13043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475569">
                <a:alpha val="8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明确的交付标准：只有能跨业务线稳定运行的功能，才能被称为“平台能力”。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40000" y="-2540000"/>
            <a:ext cx="7620000" cy="7620000"/>
          </a:xfrm>
          <a:prstGeom prst="ellipse">
            <a:avLst/>
          </a:prstGeom>
          <a:solidFill>
            <a:srgbClr val="38BDF8">
              <a:alpha val="4000"/>
            </a:srgbClr>
          </a:solidFill>
          <a:ln w="12700" cap="flat" cmpd="sng">
            <a:solidFill>
              <a:srgbClr val="38BDF8">
                <a:alpha val="1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0" y="1270000"/>
            <a:ext cx="8890000" cy="8890000"/>
          </a:xfrm>
          <a:prstGeom prst="ellipse">
            <a:avLst/>
          </a:prstGeom>
          <a:solidFill>
            <a:srgbClr val="A855F7">
              <a:alpha val="3000"/>
            </a:srgbClr>
          </a:solidFill>
          <a:ln w="12700" cap="flat" cmpd="sng">
            <a:solidFill>
              <a:srgbClr val="A855F7">
                <a:alpha val="1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PART 3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286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560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接下来的工作方向、思路和目标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40969" y="3556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26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从内部支撑，走向内外部双服务对象的平台化经营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318000"/>
            <a:ext cx="990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5-8 月先通过销售、渠道、服务三个真实业务面打磨平台底座；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下一步要把核心能力，沉淀为内部可复用、外部可售卖的 AI Native 平台。</a:t>
            </a:r>
            <a:endParaRPr lang="en-US" sz="16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16000" y="5461000"/>
            <a:ext cx="9652000" cy="762000"/>
          </a:xfrm>
          <a:prstGeom prst="roundRect">
            <a:avLst>
              <a:gd name="adj" fmla="val 10000"/>
            </a:avLst>
          </a:prstGeom>
          <a:solidFill>
            <a:srgbClr val="38BDF8">
              <a:alpha val="1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不贪多求全，下一步将聚焦于三大主线：能力产品化、接入标准化、运营商业化。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556000"/>
            <a:ext cx="50800" cy="508000"/>
          </a:xfrm>
          <a:prstGeom prst="roundRect">
            <a:avLst>
              <a:gd name="adj" fmla="val 7500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AI Native 平台的商业模式：内部赋能、外部售卖、生态扩展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952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不仅是内部支撑工具，更要成为 CRM 客户和生态伙伴构建 Agent 应用的平台底座。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65500" cy="3556000"/>
          </a:xfrm>
          <a:prstGeom prst="roundRect">
            <a:avLst>
              <a:gd name="adj" fmla="val 2264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365500" cy="508000"/>
          </a:xfrm>
          <a:prstGeom prst="roundRect">
            <a:avLst>
              <a:gd name="adj" fmla="val 15000"/>
            </a:avLst>
          </a:prstGeom>
          <a:solidFill>
            <a:srgbClr val="38BDF8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内部 AI 业务团队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349500"/>
            <a:ext cx="29845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400"/>
              </a:spcBef>
              <a:defRPr/>
            </a:pPr>
            <a:r>
              <a:rPr lang="en-US" sz="13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画像：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销售、渠道、服务智能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3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他们要什么：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快速交付业务 Agent，少重复造底座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3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平台提供什么：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Runtime、AG-UI、Skill/Tool、原子能力、评测、治理、接入模板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406900" y="1651000"/>
            <a:ext cx="3365500" cy="3556000"/>
          </a:xfrm>
          <a:prstGeom prst="roundRect">
            <a:avLst>
              <a:gd name="adj" fmla="val 2264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406900" y="1651000"/>
            <a:ext cx="3365500" cy="508000"/>
          </a:xfrm>
          <a:prstGeom prst="roundRect">
            <a:avLst>
              <a:gd name="adj" fmla="val 15000"/>
            </a:avLst>
          </a:prstGeom>
          <a:solidFill>
            <a:srgbClr val="2DD4B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CRM 终端客户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97400" y="2349500"/>
            <a:ext cx="29845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400"/>
              </a:spcBef>
              <a:defRPr/>
            </a:pPr>
            <a:r>
              <a:rPr lang="en-US" sz="13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画像：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客户侧管理员 / 开发者 / 运营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3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他们要什么：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不只是买成品应用，而是基于底座快速搭建自有 Agent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3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平台提供什么：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可配置 Agent 平台、业务对象接入、权限审计、资源计量、可视化搭建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064500" y="1651000"/>
            <a:ext cx="3365500" cy="3556000"/>
          </a:xfrm>
          <a:prstGeom prst="roundRect">
            <a:avLst>
              <a:gd name="adj" fmla="val 2264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A855F7">
                <a:alpha val="4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8064500" y="1651000"/>
            <a:ext cx="3365500" cy="508000"/>
          </a:xfrm>
          <a:prstGeom prst="roundRect">
            <a:avLst>
              <a:gd name="adj" fmla="val 15000"/>
            </a:avLst>
          </a:prstGeom>
          <a:solidFill>
            <a:srgbClr val="A855F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生态伙伴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255000" y="2349500"/>
            <a:ext cx="29845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400"/>
              </a:spcBef>
              <a:defRPr/>
            </a:pPr>
            <a:r>
              <a:rPr lang="en-US" sz="13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画像：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ISV、行业伙伴、外部系统服务方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3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他们要什么：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把行业能力、外部数据接入 CRM 生态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300" b="1" i="0" u="none" strike="noStrike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平台提供什么：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API / SDK / MCP、工具治理、沙箱、安全隔离、生态接入标准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461000"/>
            <a:ext cx="10668000" cy="1079500"/>
          </a:xfrm>
          <a:prstGeom prst="roundRect">
            <a:avLst>
              <a:gd name="adj" fmla="val 4705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475569">
                <a:alpha val="80000"/>
              </a:srgbClr>
            </a:solidFill>
            <a:prstDash val="solid"/>
            <a:round/>
          </a:ln>
        </p:spPr>
        <p:txBody>
          <a:bodyPr vert="horz" wrap="square" lIns="254000" tIns="190500" rIns="254000" bIns="0" rtlCol="0" anchor="t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类比 Anthropic + FIS 金融服务模式：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底层大模型更像 Anthropic，而我们的 AI Native 平台更接近 FIS 的角色：承接 CRM 行业系统、业务语义、权限流程和平台化交付，把通用 AI 能力变成行业可用的 Agent 应用基础设施。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850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演进路径：从内部三线验证，到客户自建 Agent 与生态扩展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143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Part2 已经讲清 5-8 月三线并行怎么打；这一页要讲的是，三线支撑之后，AI Native 平台能力如何继续</a:t>
            </a:r>
            <a:r>
              <a:rPr lang="en-US" sz="16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沉淀和外溢，最终形成可售卖、可开放、可生态化</a:t>
            </a: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的平台能力。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159000"/>
            <a:ext cx="2286000" cy="2921000"/>
          </a:xfrm>
          <a:prstGeom prst="roundRect">
            <a:avLst>
              <a:gd name="adj" fmla="val 3333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2286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90500" tIns="254000" rIns="19050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400"/>
              </a:spcBef>
              <a:defRPr/>
            </a:pPr>
            <a:r>
              <a:rPr lang="en-US" sz="20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6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内部三线验证</a:t>
            </a:r>
            <a:endParaRPr lang="en-US" sz="1600" b="1" i="0" u="none" strike="noStrike">
              <a:solidFill>
                <a:srgbClr val="F8FAF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证明平台能支撑真实业务 Agent</a:t>
            </a:r>
            <a:endParaRPr lang="en-US" sz="12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2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关键词：</a:t>
            </a:r>
            <a:endParaRPr lang="en-US" sz="1200" b="1" i="0" u="none" strike="noStrike">
              <a:solidFill>
                <a:srgbClr val="38BDF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● 销售/渠道/服务</a:t>
            </a:r>
            <a:endParaRPr lang="en-US" sz="12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● 真实业务闭环</a:t>
            </a:r>
            <a:endParaRPr lang="en-US" sz="12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● 首批客户反馈</a:t>
            </a:r>
            <a:endParaRPr lang="en-US" sz="12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111500" y="3467100"/>
            <a:ext cx="254000" cy="304800"/>
          </a:xfrm>
          <a:prstGeom prst="rightArrow">
            <a:avLst/>
          </a:prstGeom>
          <a:solidFill>
            <a:srgbClr val="475569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3429000" y="2159000"/>
            <a:ext cx="2286000" cy="2921000"/>
          </a:xfrm>
          <a:prstGeom prst="roundRect">
            <a:avLst>
              <a:gd name="adj" fmla="val 3333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60A5FA">
                <a:alpha val="4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3429000" y="2159000"/>
            <a:ext cx="2286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90500" tIns="254000" rIns="19050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400"/>
              </a:spcBef>
              <a:defRPr/>
            </a:pPr>
            <a:r>
              <a:rPr lang="en-US" sz="2000" b="1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6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平台能力沉淀</a:t>
            </a:r>
            <a:endParaRPr lang="en-US" sz="1600" b="1" i="0" u="none" strike="noStrike">
              <a:solidFill>
                <a:srgbClr val="F8FAF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让平台能力从项目经验变成标准产品</a:t>
            </a:r>
            <a:endParaRPr lang="en-US" sz="12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200" b="1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关键词：</a:t>
            </a:r>
            <a:endParaRPr lang="en-US" sz="1200" b="1" i="0" u="none" strike="noStrike">
              <a:solidFill>
                <a:srgbClr val="60A5FA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● Runtime底座</a:t>
            </a:r>
            <a:endParaRPr lang="en-US" sz="12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● Tool / Skill</a:t>
            </a:r>
            <a:endParaRPr lang="en-US" sz="12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● 评测、Trust Layer</a:t>
            </a:r>
            <a:endParaRPr lang="en-US" sz="12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778500" y="3467100"/>
            <a:ext cx="254000" cy="304800"/>
          </a:xfrm>
          <a:prstGeom prst="rightArrow">
            <a:avLst/>
          </a:prstGeom>
          <a:solidFill>
            <a:srgbClr val="475569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096000" y="2159000"/>
            <a:ext cx="2286000" cy="2921000"/>
          </a:xfrm>
          <a:prstGeom prst="roundRect">
            <a:avLst>
              <a:gd name="adj" fmla="val 3333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096000" y="2159000"/>
            <a:ext cx="2286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90500" tIns="254000" rIns="19050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400"/>
              </a:spcBef>
              <a:defRPr/>
            </a:pPr>
            <a:r>
              <a:rPr lang="en-US" sz="20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6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客户自建 Agent</a:t>
            </a:r>
            <a:endParaRPr lang="en-US" sz="1600" b="1" i="0" u="none" strike="noStrike">
              <a:solidFill>
                <a:srgbClr val="F8FAF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让终端客户获得可配置的构建能力</a:t>
            </a:r>
            <a:endParaRPr lang="en-US" sz="12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2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关键词：</a:t>
            </a:r>
            <a:endParaRPr lang="en-US" sz="1200" b="1" i="0" u="none" strike="noStrike">
              <a:solidFill>
                <a:srgbClr val="8B5CF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● 配置化与模板化</a:t>
            </a:r>
            <a:endParaRPr lang="en-US" sz="12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● 权限继承</a:t>
            </a:r>
            <a:endParaRPr lang="en-US" sz="12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● 资源计量计费</a:t>
            </a:r>
            <a:endParaRPr lang="en-US" sz="12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445500" y="3467100"/>
            <a:ext cx="254000" cy="304800"/>
          </a:xfrm>
          <a:prstGeom prst="rightArrow">
            <a:avLst/>
          </a:prstGeom>
          <a:solidFill>
            <a:srgbClr val="475569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763000" y="2159000"/>
            <a:ext cx="2286000" cy="2921000"/>
          </a:xfrm>
          <a:prstGeom prst="roundRect">
            <a:avLst>
              <a:gd name="adj" fmla="val 3333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A855F7">
                <a:alpha val="4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763000" y="2159000"/>
            <a:ext cx="2286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90500" tIns="254000" rIns="19050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400"/>
              </a:spcBef>
              <a:defRPr/>
            </a:pPr>
            <a:r>
              <a:rPr lang="en-US" sz="2000" b="1" i="0" u="none" strike="noStrike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6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生态伙伴扩展</a:t>
            </a:r>
            <a:endParaRPr lang="en-US" sz="1600" b="1" i="0" u="none" strike="noStrike">
              <a:solidFill>
                <a:srgbClr val="F8FAF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形成开放的 CRM Agent 生态边界</a:t>
            </a:r>
            <a:endParaRPr lang="en-US" sz="12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200" b="1" i="0" u="none" strike="noStrike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关键词：</a:t>
            </a:r>
            <a:endParaRPr lang="en-US" sz="1200" b="1" i="0" u="none" strike="noStrike">
              <a:solidFill>
                <a:srgbClr val="A855F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● API/SDK/MCP</a:t>
            </a:r>
            <a:endParaRPr lang="en-US" sz="12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● 工具与数据接入</a:t>
            </a:r>
            <a:endParaRPr lang="en-US" sz="12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● 严格生态治理</a:t>
            </a:r>
            <a:endParaRPr lang="en-US" sz="12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461000"/>
            <a:ext cx="10287000" cy="635000"/>
          </a:xfrm>
          <a:prstGeom prst="roundRect">
            <a:avLst>
              <a:gd name="adj" fmla="val 8000"/>
            </a:avLst>
          </a:prstGeom>
          <a:solidFill>
            <a:srgbClr val="0F172A">
              <a:alpha val="10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</a:ln>
        </p:spPr>
        <p:txBody>
          <a:bodyPr vert="horz" wrap="square" lIns="25400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核心定位：</a:t>
            </a: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Part2 讲“5-8 月怎么打”；Part3 讲“打完之后平台怎么演进成可售卖、可开放、可生态化的 Agent 基础设施”。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接下来的三条工作主线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143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聚焦产品化、接入标准化、运营商业化，不贪多求全。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3302000"/>
          </a:xfrm>
          <a:prstGeom prst="roundRect">
            <a:avLst>
              <a:gd name="adj" fmla="val 2307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2095500" y="1587500"/>
            <a:ext cx="635000" cy="635000"/>
          </a:xfrm>
          <a:prstGeom prst="ellipse">
            <a:avLst/>
          </a:prstGeom>
          <a:solidFill>
            <a:srgbClr val="0F172A">
              <a:alpha val="100000"/>
            </a:srgbClr>
          </a:solidFill>
          <a:ln w="25400" cap="flat" cmpd="sng">
            <a:solidFill>
              <a:srgbClr val="38BDF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 fontScale="85000" lnSpcReduction="20000"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3495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平台能力产品化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9845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把支撑业务交付过程中沉淀出的 Agent Runtime、AI 原子能力、Prompt / Skill、评测与 Trust Layer，</a:t>
            </a:r>
            <a:r>
              <a:rPr lang="en-US" sz="1400" b="0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从“项目内部能力”变成“外部可开通的标准产品”</a:t>
            </a:r>
            <a:r>
              <a:rPr lang="en-US" sz="14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905000"/>
            <a:ext cx="3302000" cy="3302000"/>
          </a:xfrm>
          <a:prstGeom prst="roundRect">
            <a:avLst>
              <a:gd name="adj" fmla="val 2307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A855F7">
                <a:alpha val="4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5778500" y="1587500"/>
            <a:ext cx="635000" cy="635000"/>
          </a:xfrm>
          <a:prstGeom prst="ellipse">
            <a:avLst/>
          </a:prstGeom>
          <a:solidFill>
            <a:srgbClr val="0F172A">
              <a:alpha val="100000"/>
            </a:srgbClr>
          </a:solidFill>
          <a:ln w="25400" cap="flat" cmpd="sng">
            <a:solidFill>
              <a:srgbClr val="A855F7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 fontScale="85000" lnSpcReduction="20000"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23495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业务/客户接入标准化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29845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形成同时面向内部团队、终端客户和生态伙伴的统一接入模板：包含场景定义、数据接入、Skill 契约、权限策略、灰度发布等，</a:t>
            </a:r>
            <a:r>
              <a:rPr lang="en-US" sz="1400" b="0" i="0" u="none" strike="noStrike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实现低成本的规模交付</a:t>
            </a:r>
            <a:r>
              <a:rPr lang="en-US" sz="14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905000"/>
            <a:ext cx="3302000" cy="3302000"/>
          </a:xfrm>
          <a:prstGeom prst="roundRect">
            <a:avLst>
              <a:gd name="adj" fmla="val 2307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461500" y="1587500"/>
            <a:ext cx="635000" cy="635000"/>
          </a:xfrm>
          <a:prstGeom prst="ellipse">
            <a:avLst/>
          </a:prstGeom>
          <a:solidFill>
            <a:srgbClr val="0F172A">
              <a:alpha val="100000"/>
            </a:srgbClr>
          </a:solidFill>
          <a:ln w="25400" cap="flat" cmpd="sng">
            <a:solidFill>
              <a:srgbClr val="2DD4B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 fontScale="85000" lnSpcReduction="20000"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23495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运营商业化体系化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29845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引入复用率、接入周期、质量通过率、成本归因、资源点、租户配额等机制，让平台的投入产出 </a:t>
            </a:r>
            <a:r>
              <a:rPr lang="en-US" sz="1400" b="0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可衡量、可运营、可商业化售卖</a:t>
            </a:r>
            <a:r>
              <a:rPr lang="en-US" sz="14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651500"/>
            <a:ext cx="10668000" cy="698500"/>
          </a:xfrm>
          <a:prstGeom prst="roundRect">
            <a:avLst>
              <a:gd name="adj" fmla="val 7272"/>
            </a:avLst>
          </a:prstGeom>
          <a:solidFill>
            <a:srgbClr val="0F172A">
              <a:alpha val="10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254000" tIns="0" rIns="25400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这三条主线将驱动 AI Native 平台从内部支撑能力，彻底升级为客户可购买、伙伴可接入的 </a:t>
            </a:r>
            <a:r>
              <a:rPr lang="en-US" sz="16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Agent 行业基础设施。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8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主线落地：把平台能力做成产品，把接入过程做成标准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0795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能力产品化：解决“能不能被买和复用”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62000" y="1587500"/>
          <a:ext cx="6350000" cy="406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51000"/>
                <a:gridCol w="2159000"/>
                <a:gridCol w="2540000"/>
              </a:tblGrid>
              <a:tr h="508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94A3B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产品化能力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94A3B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内部业务价值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94A3B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外部客户价值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89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Agent Runtime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三线业务在同一运行时上稳定运行</a:t>
                      </a:r>
                      <a:endParaRPr lang="en-US" sz="1100"/>
                    </a:p>
                  </a:txBody>
                  <a:tcPr marL="127000" marR="635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客户可基于统一运行时搭建自有 Agent 应用</a:t>
                      </a:r>
                      <a:endParaRPr lang="en-US" sz="1100"/>
                    </a:p>
                  </a:txBody>
                  <a:tcPr marL="127000" marR="635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89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 原子能力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避免业务线重复接模型或封装 RAG/ASR</a:t>
                      </a:r>
                      <a:endParaRPr lang="en-US" sz="1100"/>
                    </a:p>
                  </a:txBody>
                  <a:tcPr marL="127000" marR="635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客户可按需独立开通文档解析、语音等多模态能力</a:t>
                      </a:r>
                      <a:endParaRPr lang="en-US" sz="1100"/>
                    </a:p>
                  </a:txBody>
                  <a:tcPr marL="127000" marR="635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89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Prompt / Skill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业务 SOP 实现版本化、灰度和回滚</a:t>
                      </a:r>
                      <a:endParaRPr lang="en-US" sz="1100"/>
                    </a:p>
                  </a:txBody>
                  <a:tcPr marL="127000" marR="635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客户可自主配置特有 Prompt 和 Skill 模板</a:t>
                      </a:r>
                      <a:endParaRPr lang="en-US" sz="1100"/>
                    </a:p>
                  </a:txBody>
                  <a:tcPr marL="127000" marR="635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89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评测与 Trust Layer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每次迭代有评估集兜底，全局管控权限</a:t>
                      </a:r>
                      <a:endParaRPr lang="en-US" sz="1100"/>
                    </a:p>
                  </a:txBody>
                  <a:tcPr marL="127000" marR="635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客户可验证自建 Agent 的质量与安全风险边界</a:t>
                      </a:r>
                      <a:endParaRPr lang="en-US" sz="1100"/>
                    </a:p>
                  </a:txBody>
                  <a:tcPr marL="127000" marR="635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7493000" y="1079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接入标准化：解决“低成本规模交付”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493000" y="1587500"/>
            <a:ext cx="3556000" cy="1905000"/>
          </a:xfrm>
          <a:prstGeom prst="roundRect">
            <a:avLst>
              <a:gd name="adj" fmla="val 400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A855F7">
                <a:alpha val="30000"/>
              </a:srgbClr>
            </a:solidFill>
            <a:prstDash val="solid"/>
            <a:round/>
          </a:ln>
        </p:spPr>
        <p:txBody>
          <a:bodyPr vert="horz" wrap="square" lIns="190500" tIns="1905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流水线式接入过程：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1. 场景定义 → 2. 数据接入</a:t>
            </a:r>
            <a:endParaRPr lang="en-US" sz="12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3. Skill 契约 → 4. 权限策略</a:t>
            </a:r>
            <a:endParaRPr lang="en-US" sz="12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5. 评估集验收 → 6. 灰度发布</a:t>
            </a:r>
            <a:endParaRPr lang="en-US" sz="12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7. 线上观测与复盘</a:t>
            </a:r>
            <a:endParaRPr lang="en-US" sz="12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493000" y="3683000"/>
            <a:ext cx="3556000" cy="2032000"/>
          </a:xfrm>
          <a:prstGeom prst="roundRect">
            <a:avLst>
              <a:gd name="adj" fmla="val 375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A855F7">
                <a:alpha val="30000"/>
              </a:srgbClr>
            </a:solidFill>
            <a:prstDash val="solid"/>
            <a:round/>
          </a:ln>
        </p:spPr>
        <p:txBody>
          <a:bodyPr vert="horz" wrap="square" lIns="190500" tIns="190500" rIns="127000" bIns="0" rtlCol="0" anchor="t" anchorCtr="0">
            <a:normAutofit lnSpcReduction="10000"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不同对象的标准化重点：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内部业务：</a:t>
            </a: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按统一模板接入，拒绝定制化野蛮生长。</a:t>
            </a:r>
            <a:endParaRPr lang="en-US" sz="12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2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终端客户：</a:t>
            </a: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通过配置、模板和资源配额，自主搭建自有应用。</a:t>
            </a:r>
            <a:endParaRPr lang="en-US" sz="12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2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生态伙伴：</a:t>
            </a: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API/MCP 接入外部工具与数据，受平台治理。</a:t>
            </a:r>
            <a:endParaRPr lang="en-US" sz="12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8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主线落地：让平台价值可度量、可运营、可开放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079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运营商业化体系：证明平台投入产出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62000" y="1587500"/>
          <a:ext cx="4953000" cy="2413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43000"/>
                <a:gridCol w="2286000"/>
                <a:gridCol w="1524000"/>
              </a:tblGrid>
              <a:tr h="381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94A3B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核心指标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94A3B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衡量什么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94A3B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证明什么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复用率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原子能力跨业务线调用比例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DD4B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沉淀是否有效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接入周期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新 Agent 从需求到灰度上线时间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DD4B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是否降低门槛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质量通过率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评估集的成功率与边界通过情况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DD4B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能力是否稳定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成本归因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按业务线/租户/模型拆分消耗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DD4B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支撑商业计费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762000" y="4191000"/>
            <a:ext cx="4953000" cy="1397000"/>
          </a:xfrm>
          <a:prstGeom prst="roundRect">
            <a:avLst>
              <a:gd name="adj" fmla="val 3636"/>
            </a:avLst>
          </a:prstGeom>
          <a:solidFill>
            <a:srgbClr val="1E293B">
              <a:alpha val="4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127000" tIns="127000" rIns="0" bIns="0" rtlCol="0" anchor="ctr" anchorCtr="0">
            <a:norm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核心商业化基建：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● 资源计量（Token/搜索消耗折算）</a:t>
            </a:r>
            <a:endParaRPr lang="en-US" sz="12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● 企业租户限流配额分配</a:t>
            </a:r>
            <a:endParaRPr lang="en-US" sz="12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● ROI 证明：模型开销与业务成效挂钩</a:t>
            </a:r>
            <a:endParaRPr lang="en-US" sz="12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096000" y="1079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8B5CF6"/>
                </a:solidFill>
                <a:latin typeface="Inter"/>
                <a:ea typeface="Inter"/>
                <a:cs typeface="Inter"/>
                <a:sym typeface="Inter"/>
              </a:rPr>
              <a:t>生态开放方向：让能力被可靠使用</a:t>
            </a:r>
            <a:endParaRPr lang="en-US" sz="1100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6096000" y="1587500"/>
          <a:ext cx="4572000" cy="3429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97000"/>
                <a:gridCol w="1651000"/>
                <a:gridCol w="1524000"/>
              </a:tblGrid>
              <a:tr h="381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94A3B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开放方向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94A3B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建设重点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94A3B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治理底线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2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API / SDK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暴露核心 Agent 和标准接口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鉴权、限流、审计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2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MCP / 外部工具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接入外部数据与业务系统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沙箱隔离、权限边界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2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ISV 生态伙伴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支持伙伴扩展行业场景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数据/责任边界管控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2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客户自建应用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支持 CRM 终端客户二次开发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租户隔离、风险拦截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AutoShape 8"/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8000"/>
            </a:avLst>
          </a:prstGeom>
          <a:solidFill>
            <a:srgbClr val="0F172A">
              <a:alpha val="100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solid"/>
            <a:round/>
          </a:ln>
        </p:spPr>
        <p:txBody>
          <a:bodyPr vert="horz" wrap="square" lIns="254000" tIns="0" rIns="25400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结论：运营商业化解决</a:t>
            </a:r>
            <a:r>
              <a:rPr lang="en-US" sz="15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“平台价值怎么被证明和计费”</a:t>
            </a: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，生态开放解决</a:t>
            </a:r>
            <a:r>
              <a:rPr lang="en-US" sz="15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“平台能力怎么被可靠使用”</a:t>
            </a: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40000" y="-2540000"/>
            <a:ext cx="7620000" cy="7620000"/>
          </a:xfrm>
          <a:prstGeom prst="ellipse">
            <a:avLst/>
          </a:prstGeom>
          <a:solidFill>
            <a:srgbClr val="38BDF8">
              <a:alpha val="4000"/>
            </a:srgbClr>
          </a:solidFill>
          <a:ln w="12700" cap="flat" cmpd="sng">
            <a:solidFill>
              <a:srgbClr val="38BDF8">
                <a:alpha val="1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0" y="1270000"/>
            <a:ext cx="8890000" cy="8890000"/>
          </a:xfrm>
          <a:prstGeom prst="ellipse">
            <a:avLst/>
          </a:prstGeom>
          <a:solidFill>
            <a:srgbClr val="A855F7">
              <a:alpha val="3000"/>
            </a:srgbClr>
          </a:solidFill>
          <a:ln w="12700" cap="flat" cmpd="sng">
            <a:solidFill>
              <a:srgbClr val="A855F7">
                <a:alpha val="1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PART 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286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560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如何建设 AI Native 团队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33159" y="3556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26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组织模式、人才密度、工作方式、创新文化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318000"/>
            <a:ext cx="990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AI Native 战队不是临时项目组，而是面向下一代 Agent 化产品形态的平台团队；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要用更高人才密度、更强端到端闭环、更快周级迭代和更开放的创新文化，支撑平台长期演进。</a:t>
            </a:r>
            <a:endParaRPr lang="en-US" sz="16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16000" y="5461000"/>
            <a:ext cx="9652000" cy="762000"/>
          </a:xfrm>
          <a:prstGeom prst="roundRect">
            <a:avLst>
              <a:gd name="adj" fmla="val 10000"/>
            </a:avLst>
          </a:prstGeom>
          <a:solidFill>
            <a:srgbClr val="38BDF8">
              <a:alpha val="1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团队建设的目标，是让战队既能快速响应业务战役，又能持续沉淀平台资产。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556000"/>
            <a:ext cx="50800" cy="508000"/>
          </a:xfrm>
          <a:prstGeom prst="roundRect">
            <a:avLst>
              <a:gd name="adj" fmla="val 7500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8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850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组织模式：平台小核心 + 场景共建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952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AI Native 团队不应变成无限交付的项目组。把一次业务交付沉淀成平台能力，是核心原则。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3048000"/>
          </a:xfrm>
          <a:prstGeom prst="roundRect">
            <a:avLst>
              <a:gd name="adj" fmla="val 250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302000" cy="571500"/>
          </a:xfrm>
          <a:prstGeom prst="roundRect">
            <a:avLst>
              <a:gd name="adj" fmla="val 13333"/>
            </a:avLst>
          </a:prstGeom>
          <a:solidFill>
            <a:srgbClr val="38BDF8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平台小核心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349500"/>
            <a:ext cx="2921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spcBef>
                <a:spcPts val="400"/>
              </a:spcBef>
              <a:defRPr/>
            </a:pPr>
            <a:r>
              <a:rPr lang="en-US" sz="13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职责：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负责 Agent Runtime、AI 原子能力、模型网关、Prompt/Skill、评测、DevOps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边界：</a:t>
            </a:r>
            <a:endParaRPr lang="en-US" sz="1300" b="1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3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对平台稳定性、复用性、可治理负责</a:t>
            </a:r>
            <a:endParaRPr lang="en-US" sz="1300" b="1" i="0" u="none" strike="noStrike">
              <a:solidFill>
                <a:srgbClr val="38BDF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445000" y="1651000"/>
            <a:ext cx="3302000" cy="3048000"/>
          </a:xfrm>
          <a:prstGeom prst="roundRect">
            <a:avLst>
              <a:gd name="adj" fmla="val 250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A855F7">
                <a:alpha val="4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571500"/>
          </a:xfrm>
          <a:prstGeom prst="roundRect">
            <a:avLst>
              <a:gd name="adj" fmla="val 13333"/>
            </a:avLst>
          </a:prstGeom>
          <a:solidFill>
            <a:srgbClr val="A855F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场景共建团队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635500" y="2349500"/>
            <a:ext cx="2921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spcBef>
                <a:spcPts val="400"/>
              </a:spcBef>
              <a:defRPr/>
            </a:pPr>
            <a:r>
              <a:rPr lang="en-US" sz="13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职责：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销售智能、渠道智能、服务智能等业务团队负责场景、SOP、用户体验、客户反馈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边界：</a:t>
            </a:r>
            <a:endParaRPr lang="en-US" sz="1300" b="1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300" b="1" i="0" u="none" strike="noStrike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对业务闭环、客户价值和商业化负责</a:t>
            </a:r>
            <a:endParaRPr lang="en-US" sz="1300" b="1" i="0" u="none" strike="noStrike">
              <a:solidFill>
                <a:srgbClr val="A855F7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128000" y="1651000"/>
            <a:ext cx="3302000" cy="3048000"/>
          </a:xfrm>
          <a:prstGeom prst="roundRect">
            <a:avLst>
              <a:gd name="adj" fmla="val 250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8128000" y="1651000"/>
            <a:ext cx="3302000" cy="571500"/>
          </a:xfrm>
          <a:prstGeom prst="roundRect">
            <a:avLst>
              <a:gd name="adj" fmla="val 13333"/>
            </a:avLst>
          </a:prstGeom>
          <a:solidFill>
            <a:srgbClr val="2DD4B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能力输入团队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318500" y="2349500"/>
            <a:ext cx="2921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spcBef>
                <a:spcPts val="400"/>
              </a:spcBef>
              <a:defRPr/>
            </a:pPr>
            <a:r>
              <a:rPr lang="en-US" sz="13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职责：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语义层 / Data / 生态团队提供业务语义、数据 Pipeline、外部数据和生态资源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边界：</a:t>
            </a:r>
            <a:endParaRPr lang="en-US" sz="1300" b="1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3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对语义、数据和生态能力供给负责</a:t>
            </a:r>
            <a:endParaRPr lang="en-US" sz="1300" b="1" i="0" u="none" strike="noStrike">
              <a:solidFill>
                <a:srgbClr val="2DD4B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953000"/>
            <a:ext cx="10668000" cy="1270000"/>
          </a:xfrm>
          <a:prstGeom prst="roundRect">
            <a:avLst>
              <a:gd name="adj" fmla="val 4000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475569">
                <a:alpha val="80000"/>
              </a:srgbClr>
            </a:solidFill>
            <a:prstDash val="solid"/>
            <a:round/>
          </a:ln>
        </p:spPr>
        <p:txBody>
          <a:bodyPr vert="horz" wrap="square" lIns="254000" tIns="190500" rIns="254000" bIns="0" rtlCol="0" anchor="t" anchorCtr="0">
            <a:normAutofit lnSpcReduction="10000"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组织核心原则：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1. 能力下沉到平台，场景上浮给业务。业务需求要沉淀成接口契约、Skill 契约、评估集和接入模板。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  <a:spcBef>
                <a:spcPts val="200"/>
              </a:spcBef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2. 平台不替业务定义产品，但必须对稳定性、复用性、安全性和可观测性兜底。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  <a:spcBef>
                <a:spcPts val="200"/>
              </a:spcBef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3. 平台团队</a:t>
            </a:r>
            <a:r>
              <a:rPr lang="en-US" sz="1300" b="0" i="0" u="none" strike="noStrike">
                <a:solidFill>
                  <a:srgbClr val="F87171"/>
                </a:solidFill>
                <a:latin typeface="Noto Sans SC"/>
                <a:ea typeface="Noto Sans SC"/>
                <a:cs typeface="Noto Sans SC"/>
                <a:sym typeface="Noto Sans SC"/>
              </a:rPr>
              <a:t>不背业务 GMV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，但必须</a:t>
            </a:r>
            <a:r>
              <a:rPr lang="en-US" sz="1300" b="0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背复用率、接入效率、质量基线和架构债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8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850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人才密度：将 AI 不确定性转为工程确定性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952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核心标准不是单一技能，而是能把问题定义清楚、链路跑通、效果评估、沉淀资产。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143500" cy="152400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" cy="15240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651000"/>
            <a:ext cx="4762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254000" rIns="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系统型人才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需要：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能理解 Agent Runtime、模型调用、工具链和业务端到端链路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300" b="0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</a:t>
            </a:r>
            <a:r>
              <a:rPr lang="en-US" sz="13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避免只做局部模块，能对整体落地效果负责</a:t>
            </a:r>
            <a:endParaRPr lang="en-US" sz="13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032500" y="1651000"/>
            <a:ext cx="5143500" cy="152400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A855F7">
                <a:alpha val="4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032500" y="1651000"/>
            <a:ext cx="50800" cy="1524000"/>
          </a:xfrm>
          <a:prstGeom prst="roundRect">
            <a:avLst>
              <a:gd name="adj" fmla="val 0"/>
            </a:avLst>
          </a:prstGeom>
          <a:solidFill>
            <a:srgbClr val="A855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223000" y="1651000"/>
            <a:ext cx="4762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254000" rIns="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产品化人才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需要：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能把一次业务交付抽象成平台能力、接口契约和标准模板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300" b="0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</a:t>
            </a:r>
            <a:r>
              <a:rPr lang="en-US" sz="13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避免团队长期陷入项目制的外包交付泥潭</a:t>
            </a:r>
            <a:endParaRPr lang="en-US" sz="13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3365500"/>
            <a:ext cx="5143500" cy="152400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3365500"/>
            <a:ext cx="50800" cy="1524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952500" y="3365500"/>
            <a:ext cx="4762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254000" rIns="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评测运营人才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需要：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能建立评估集、质量指标、客户反馈闭环和成本归因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300" b="0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</a:t>
            </a:r>
            <a:r>
              <a:rPr lang="en-US" sz="13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让 AI 能力从“感觉好”变成“数据证明好”</a:t>
            </a:r>
            <a:endParaRPr lang="en-US" sz="13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032500" y="3365500"/>
            <a:ext cx="5143500" cy="152400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F59E0B">
                <a:alpha val="4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032500" y="3365500"/>
            <a:ext cx="50800" cy="15240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223000" y="3365500"/>
            <a:ext cx="4762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254000" rIns="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探索型人才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需要：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能快速验证新技术，但也必须能沉淀组件、文档和规则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300" b="0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</a:t>
            </a:r>
            <a:r>
              <a:rPr lang="en-US" sz="13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保证创新不是抛弃即没的 Demo，而是长期平台资产</a:t>
            </a:r>
            <a:endParaRPr lang="en-US" sz="13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5143500"/>
            <a:ext cx="10668000" cy="1143000"/>
          </a:xfrm>
          <a:prstGeom prst="roundRect">
            <a:avLst>
              <a:gd name="adj" fmla="val 4444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475569">
                <a:alpha val="80000"/>
              </a:srgbClr>
            </a:solidFill>
            <a:prstDash val="solid"/>
            <a:round/>
          </a:ln>
        </p:spPr>
        <p:txBody>
          <a:bodyPr vert="horz" wrap="square" lIns="254000" tIns="127000" rIns="254000" bIns="0" rtlCol="0" anchor="t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选拔与培养导向：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400"/>
              </a:spcBef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少一点“岗位边界”，多一点“</a:t>
            </a:r>
            <a:r>
              <a:rPr lang="en-US" sz="1300" b="0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能力域负责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”；少一点单点强，多一点“</a:t>
            </a:r>
            <a:r>
              <a:rPr lang="en-US" sz="1300" b="0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端到端闭环强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”。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200"/>
              </a:spcBef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少一点“谁实现需求”，多一点“谁做成平台能力”；少一点 Demo 思维，多一点</a:t>
            </a:r>
            <a:r>
              <a:rPr lang="en-US" sz="1300" b="0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复用交付思维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8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850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开发方式变革：Tchub Agent Teams 驱动提效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952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研发把控方向、Agent Teams 快速执行、Tchub 承接上下文与评测闭环，率先用 Agent 改造自己。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080000" cy="508000"/>
          </a:xfrm>
          <a:prstGeom prst="roundRect">
            <a:avLst>
              <a:gd name="adj" fmla="val 15000"/>
            </a:avLst>
          </a:prstGeom>
          <a:solidFill>
            <a:srgbClr val="475569">
              <a:alpha val="40000"/>
            </a:srgbClr>
          </a:solidFill>
          <a:ln w="12700" cap="flat" cmpd="sng">
            <a:solidFill>
              <a:srgbClr val="64748B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传统项目研发模式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5080000" cy="2540000"/>
          </a:xfrm>
          <a:prstGeom prst="roundRect">
            <a:avLst>
              <a:gd name="adj" fmla="val 3000"/>
            </a:avLst>
          </a:prstGeom>
          <a:solidFill>
            <a:srgbClr val="1E293B">
              <a:alpha val="40000"/>
            </a:srgbClr>
          </a:solidFill>
          <a:ln w="12700" cap="flat" cmpd="sng">
            <a:solidFill>
              <a:srgbClr val="475569">
                <a:alpha val="40000"/>
              </a:srgbClr>
            </a:solidFill>
            <a:prstDash val="solid"/>
            <a:round/>
          </a:ln>
        </p:spPr>
        <p:txBody>
          <a:bodyPr vert="horz" wrap="square" lIns="190500" tIns="190500" rIns="19050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spcBef>
                <a:spcPts val="400"/>
              </a:spcBef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● 研发人员手工拆需求、写实现、补测试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● 需求、设计、实现、测试上下文分散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● 开发提效停留在 Copilot 辅助代码补全阶段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● 验收依赖人工体验和临时回归，质量难以量化</a:t>
            </a:r>
            <a:endParaRPr lang="en-US" sz="13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867400" y="1549400"/>
            <a:ext cx="457200" cy="457200"/>
          </a:xfrm>
          <a:prstGeom prst="ellipse">
            <a:avLst/>
          </a:prstGeom>
          <a:solidFill>
            <a:srgbClr val="0F172A">
              <a:alpha val="100000"/>
            </a:srgbClr>
          </a:solidFill>
          <a:ln w="25400" cap="flat" cmpd="sng">
            <a:solidFill>
              <a:srgbClr val="38BDF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 fontScale="85000" lnSpcReduction="10000"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VS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0" y="1524000"/>
            <a:ext cx="5080000" cy="508000"/>
          </a:xfrm>
          <a:prstGeom prst="roundRect">
            <a:avLst>
              <a:gd name="adj" fmla="val 15000"/>
            </a:avLst>
          </a:prstGeom>
          <a:solidFill>
            <a:srgbClr val="38BDF8">
              <a:alpha val="15000"/>
            </a:srgbClr>
          </a:solidFill>
          <a:ln w="12700" cap="flat" cmpd="sng">
            <a:solidFill>
              <a:srgbClr val="38BDF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AI Native 平台研发新模式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0" y="2159000"/>
            <a:ext cx="5080000" cy="2540000"/>
          </a:xfrm>
          <a:prstGeom prst="roundRect">
            <a:avLst>
              <a:gd name="adj" fmla="val 3000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190500" tIns="190500" rIns="19050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spcBef>
                <a:spcPts val="400"/>
              </a:spcBef>
              <a:defRPr/>
            </a:pPr>
            <a:r>
              <a:rPr lang="en-US" sz="1300" b="0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● 研发定义目标和边界，Agent 承接实现与文档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● 需求与用例沉淀在 Tchub，形成完整上下文闭环</a:t>
            </a:r>
            <a:endParaRPr lang="en-US" sz="1300" b="0" i="0" u="none" strike="noStrike">
              <a:solidFill>
                <a:srgbClr val="F8FAF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● 升级为“任务级提效”，Agent 自主测试和修复</a:t>
            </a:r>
            <a:endParaRPr lang="en-US" sz="1300" b="0" i="0" u="none" strike="noStrike">
              <a:solidFill>
                <a:srgbClr val="F8FAF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● 通过评测集、Tracing 和质量周报持续客观验证</a:t>
            </a:r>
            <a:endParaRPr lang="en-US" sz="1300" b="0" i="0" u="none" strike="noStrike">
              <a:solidFill>
                <a:srgbClr val="F8FAF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48895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基于 Tchub 的周级开发执行闭环：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5207000"/>
            <a:ext cx="10668000" cy="1016000"/>
          </a:xfrm>
          <a:prstGeom prst="roundRect">
            <a:avLst>
              <a:gd name="adj" fmla="val 500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190500" tIns="190500" rIns="190500" bIns="0" rtlCol="0" anchor="ctr" anchorCtr="0">
            <a:normAutofit fontScale="70000" lnSpcReduction="10000"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关键机制保障：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1. 业务接入先走</a:t>
            </a:r>
            <a:r>
              <a:rPr lang="en-US" sz="12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标准模板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，Tchub 统一管理</a:t>
            </a:r>
            <a:r>
              <a:rPr lang="en-US" sz="12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上下文中枢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（沉淀需求、设计与评测用例）</a:t>
            </a:r>
            <a:endParaRPr lang="en-US" sz="12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2. </a:t>
            </a:r>
            <a:r>
              <a:rPr lang="en-US" sz="12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Agent Teams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 承担局部实现与用例生成，研发回归把控架构与关键风险方向</a:t>
            </a:r>
            <a:endParaRPr lang="en-US" sz="12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3. 必须通过</a:t>
            </a:r>
            <a:r>
              <a:rPr lang="en-US" sz="12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评估集验证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后小步发布，结合</a:t>
            </a:r>
            <a:r>
              <a:rPr lang="en-US" sz="12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周报指标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复盘，沉淀回 Runtime 与底层框架</a:t>
            </a:r>
            <a:endParaRPr lang="en-US" sz="12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8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850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创新文化：既要有速度，更要有工程纪律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952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支持快速试错，但不能等于随意上线或一次性 Demo。一切创新必须</a:t>
            </a:r>
            <a:r>
              <a:rPr lang="en-US" sz="16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可观测、可回滚、可沉淀</a:t>
            </a: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62000" y="1587500"/>
          <a:ext cx="10668000" cy="4953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4318000"/>
                <a:gridCol w="4318000"/>
              </a:tblGrid>
              <a:tr h="508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94A3B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文化原则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38BDF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✅ 正向鼓励：敢试快试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59E0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⛔ 底线要求：工程纪律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89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原型验证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对复杂 Agent 能力先小范围试点，快速拿到真实业务反馈</a:t>
                      </a:r>
                      <a:endParaRPr lang="en-US" sz="1100"/>
                    </a:p>
                  </a:txBody>
                  <a:tcPr marL="127000" marR="1905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1F5F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试点必须有灰度边界控制、明确的</a:t>
                      </a:r>
                      <a:r>
                        <a:rPr lang="en-US" sz="1300" b="0" i="0" u="none" strike="noStrike">
                          <a:solidFill>
                            <a:srgbClr val="F59E0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回滚策略</a:t>
                      </a:r>
                      <a:endParaRPr lang="en-US" sz="1100"/>
                    </a:p>
                  </a:txBody>
                  <a:tcPr marL="127000" marR="1905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89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跨界协作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研发、产品、UX设计、评测、业务一起共创 Agent 体验</a:t>
                      </a:r>
                      <a:endParaRPr lang="en-US" sz="1100"/>
                    </a:p>
                  </a:txBody>
                  <a:tcPr marL="127000" marR="1905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1F5F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不允许接口、数据管道、权限校验和评测标准</a:t>
                      </a:r>
                      <a:r>
                        <a:rPr lang="en-US" sz="1300" b="0" i="0" u="none" strike="noStrike">
                          <a:solidFill>
                            <a:srgbClr val="F59E0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各自为战</a:t>
                      </a:r>
                      <a:endParaRPr lang="en-US" sz="1100"/>
                    </a:p>
                  </a:txBody>
                  <a:tcPr marL="127000" marR="1905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89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前沿探索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主动探索 Multi-Agent、MCP、记忆、Agentic RAG 等新方向</a:t>
                      </a:r>
                      <a:endParaRPr lang="en-US" sz="1100"/>
                    </a:p>
                  </a:txBody>
                  <a:tcPr marL="127000" marR="1905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1F5F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探索结果必须转化为组件库代码、配置模板、评估集或</a:t>
                      </a:r>
                      <a:r>
                        <a:rPr lang="en-US" sz="1300" b="0" i="0" u="none" strike="noStrike">
                          <a:solidFill>
                            <a:srgbClr val="F59E0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正式文档资产</a:t>
                      </a:r>
                      <a:endParaRPr lang="en-US" sz="1100"/>
                    </a:p>
                  </a:txBody>
                  <a:tcPr marL="127000" marR="1905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89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客户驱动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一线真实客户反馈数据直接进入平台问题池和质量监控基线</a:t>
                      </a:r>
                      <a:endParaRPr lang="en-US" sz="1100"/>
                    </a:p>
                  </a:txBody>
                  <a:tcPr marL="127000" marR="1905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1F5F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客户工单不允许停留在单一业务线内部反复修补，必须</a:t>
                      </a:r>
                      <a:r>
                        <a:rPr lang="en-US" sz="1300" b="0" i="0" u="none" strike="noStrike">
                          <a:solidFill>
                            <a:srgbClr val="F59E0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平台兜底</a:t>
                      </a:r>
                      <a:endParaRPr lang="en-US" sz="1100"/>
                    </a:p>
                  </a:txBody>
                  <a:tcPr marL="127000" marR="1905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89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建设性复盘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容忍失败，失败踩坑的经验也要进入平台改进清单</a:t>
                      </a:r>
                      <a:endParaRPr lang="en-US" sz="1100"/>
                    </a:p>
                  </a:txBody>
                  <a:tcPr marL="127000" marR="1905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1F5F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禁止甩锅式复盘，复盘产出必须明确</a:t>
                      </a:r>
                      <a:r>
                        <a:rPr lang="en-US" sz="1300" b="0" i="0" u="none" strike="noStrike">
                          <a:solidFill>
                            <a:srgbClr val="F59E0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下一步机制和具体能力补强方案</a:t>
                      </a:r>
                      <a:endParaRPr lang="en-US" sz="1100"/>
                    </a:p>
                  </a:txBody>
                  <a:tcPr marL="127000" marR="1905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8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850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团队变化：从传统研发团队，转向 AI Native 型团队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952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lnSpcReduction="10000"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AI Native 团队的建设，不只是补齐某些岗位，而是让团队的组织形态、工作方式、质量体系、协作模式和文化导向整体发生变化。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它不再只是按职能交付功能，而是围绕 Agent 闭环持续创造平台能力。</a:t>
            </a:r>
            <a:endParaRPr lang="en-US" sz="14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714500"/>
            <a:ext cx="88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组织形态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778000" y="1714500"/>
            <a:ext cx="2540000" cy="698500"/>
          </a:xfrm>
          <a:prstGeom prst="roundRect">
            <a:avLst>
              <a:gd name="adj" fmla="val 7272"/>
            </a:avLst>
          </a:prstGeom>
          <a:solidFill>
            <a:srgbClr val="475569">
              <a:alpha val="20000"/>
            </a:srgbClr>
          </a:solidFill>
          <a:ln w="12700" cap="flat" cmpd="sng">
            <a:solidFill>
              <a:srgbClr val="475569">
                <a:alpha val="50000"/>
              </a:srgbClr>
            </a:solidFill>
            <a:prstDash val="solid"/>
            <a:round/>
          </a:ln>
        </p:spPr>
        <p:txBody>
          <a:bodyPr vert="horz" wrap="square" lIns="127000" tIns="0" rIns="127000" bIns="0" rtlCol="0" anchor="ctr" anchorCtr="0">
            <a:norm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前端、后端、测试、产品</a:t>
            </a:r>
            <a:b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按职能分工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45000" y="1714500"/>
            <a:ext cx="25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826000" y="1714500"/>
            <a:ext cx="6604000" cy="698500"/>
          </a:xfrm>
          <a:prstGeom prst="roundRect">
            <a:avLst>
              <a:gd name="adj" fmla="val 7272"/>
            </a:avLst>
          </a:prstGeom>
          <a:solidFill>
            <a:srgbClr val="38BDF8">
              <a:alpha val="1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</a:ln>
        </p:spPr>
        <p:txBody>
          <a:bodyPr vert="horz" wrap="square" lIns="190500" tIns="0" rIns="0" bIns="0" rtlCol="0" anchor="ctr" anchorCtr="0">
            <a:normAutofit lnSpcReduction="1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围绕 Agent 闭环和能力域组队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从按岗位完成任务，转向按 Agent 闭环对结果负责</a:t>
            </a:r>
            <a:endParaRPr lang="en-US" sz="12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2540000"/>
            <a:ext cx="88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工作方式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778000" y="2540000"/>
            <a:ext cx="2540000" cy="698500"/>
          </a:xfrm>
          <a:prstGeom prst="roundRect">
            <a:avLst>
              <a:gd name="adj" fmla="val 7272"/>
            </a:avLst>
          </a:prstGeom>
          <a:solidFill>
            <a:srgbClr val="475569">
              <a:alpha val="20000"/>
            </a:srgbClr>
          </a:solidFill>
          <a:ln w="12700" cap="flat" cmpd="sng">
            <a:solidFill>
              <a:srgbClr val="475569">
                <a:alpha val="50000"/>
              </a:srgbClr>
            </a:solidFill>
            <a:prstDash val="solid"/>
            <a:round/>
          </a:ln>
        </p:spPr>
        <p:txBody>
          <a:bodyPr vert="horz" wrap="square" lIns="127000" tIns="0" rIns="127000" bIns="0" rtlCol="0" anchor="ctr" anchorCtr="0">
            <a:norm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人工拆需求、人工开发、</a:t>
            </a:r>
            <a:b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人工测试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2540000"/>
            <a:ext cx="25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826000" y="2540000"/>
            <a:ext cx="6604000" cy="698500"/>
          </a:xfrm>
          <a:prstGeom prst="roundRect">
            <a:avLst>
              <a:gd name="adj" fmla="val 7272"/>
            </a:avLst>
          </a:prstGeom>
          <a:solidFill>
            <a:srgbClr val="38BDF8">
              <a:alpha val="1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</a:ln>
        </p:spPr>
        <p:txBody>
          <a:bodyPr vert="horz" wrap="square" lIns="190500" tIns="0" rIns="0" bIns="0" rtlCol="0" anchor="ctr" anchorCtr="0">
            <a:normAutofit lnSpcReduction="1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研发定方向，Tchub / Agent Teams 加速执行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从人工驱动研发，转向人和 Agent Teams 协同研发</a:t>
            </a:r>
            <a:endParaRPr lang="en-US" sz="12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3365500"/>
            <a:ext cx="88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质量体系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778000" y="3365500"/>
            <a:ext cx="2540000" cy="698500"/>
          </a:xfrm>
          <a:prstGeom prst="roundRect">
            <a:avLst>
              <a:gd name="adj" fmla="val 7272"/>
            </a:avLst>
          </a:prstGeom>
          <a:solidFill>
            <a:srgbClr val="475569">
              <a:alpha val="20000"/>
            </a:srgbClr>
          </a:solidFill>
          <a:ln w="12700" cap="flat" cmpd="sng">
            <a:solidFill>
              <a:srgbClr val="475569">
                <a:alpha val="50000"/>
              </a:srgbClr>
            </a:solidFill>
            <a:prstDash val="solid"/>
            <a:round/>
          </a:ln>
        </p:spPr>
        <p:txBody>
          <a:bodyPr vert="horz" wrap="square" lIns="127000" tIns="0" rIns="127000" bIns="0" rtlCol="0" anchor="ctr" anchorCtr="0">
            <a:norm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上线前测试，线上出问题再排查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445000" y="3365500"/>
            <a:ext cx="25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826000" y="3365500"/>
            <a:ext cx="6604000" cy="698500"/>
          </a:xfrm>
          <a:prstGeom prst="roundRect">
            <a:avLst>
              <a:gd name="adj" fmla="val 7272"/>
            </a:avLst>
          </a:prstGeom>
          <a:solidFill>
            <a:srgbClr val="38BDF8">
              <a:alpha val="1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</a:ln>
        </p:spPr>
        <p:txBody>
          <a:bodyPr vert="horz" wrap="square" lIns="190500" tIns="0" rIns="0" bIns="0" rtlCol="0" anchor="ctr" anchorCtr="0">
            <a:normAutofit lnSpcReduction="1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评测集、Tracing、质量周报、持续回放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从功能上线即结束，转向持续评测、运营和复盘</a:t>
            </a:r>
            <a:endParaRPr lang="en-US" sz="12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88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协作模式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778000" y="4191000"/>
            <a:ext cx="2540000" cy="698500"/>
          </a:xfrm>
          <a:prstGeom prst="roundRect">
            <a:avLst>
              <a:gd name="adj" fmla="val 7272"/>
            </a:avLst>
          </a:prstGeom>
          <a:solidFill>
            <a:srgbClr val="475569">
              <a:alpha val="20000"/>
            </a:srgbClr>
          </a:solidFill>
          <a:ln w="12700" cap="flat" cmpd="sng">
            <a:solidFill>
              <a:srgbClr val="475569">
                <a:alpha val="50000"/>
              </a:srgbClr>
            </a:solidFill>
            <a:prstDash val="solid"/>
            <a:round/>
          </a:ln>
        </p:spPr>
        <p:txBody>
          <a:bodyPr vert="horz" wrap="square" lIns="127000" tIns="0" rIns="127000" bIns="0" rtlCol="0" anchor="ctr" anchorCtr="0">
            <a:norm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业务提需求，平台接需求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445000" y="4191000"/>
            <a:ext cx="25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826000" y="4191000"/>
            <a:ext cx="6604000" cy="698500"/>
          </a:xfrm>
          <a:prstGeom prst="roundRect">
            <a:avLst>
              <a:gd name="adj" fmla="val 7272"/>
            </a:avLst>
          </a:prstGeom>
          <a:solidFill>
            <a:srgbClr val="38BDF8">
              <a:alpha val="1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</a:ln>
        </p:spPr>
        <p:txBody>
          <a:bodyPr vert="horz" wrap="square" lIns="190500" tIns="0" rIns="0" bIns="0" rtlCol="0" anchor="ctr" anchorCtr="0">
            <a:normAutofit lnSpcReduction="1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平台和业务共建场景，共同沉淀能力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从响应业务需求，转向和业务共建场景、共同沉淀平台能力</a:t>
            </a:r>
            <a:endParaRPr lang="en-US" sz="12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62000" y="5016500"/>
            <a:ext cx="88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文化导向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778000" y="5016500"/>
            <a:ext cx="2540000" cy="698500"/>
          </a:xfrm>
          <a:prstGeom prst="roundRect">
            <a:avLst>
              <a:gd name="adj" fmla="val 7272"/>
            </a:avLst>
          </a:prstGeom>
          <a:solidFill>
            <a:srgbClr val="475569">
              <a:alpha val="20000"/>
            </a:srgbClr>
          </a:solidFill>
          <a:ln w="12700" cap="flat" cmpd="sng">
            <a:solidFill>
              <a:srgbClr val="475569">
                <a:alpha val="50000"/>
              </a:srgbClr>
            </a:solidFill>
            <a:prstDash val="solid"/>
            <a:round/>
          </a:ln>
        </p:spPr>
        <p:txBody>
          <a:bodyPr vert="horz" wrap="square" lIns="127000" tIns="0" rIns="127000" bIns="0" rtlCol="0" anchor="ctr" anchorCtr="0">
            <a:norm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交付功能、响应需求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445000" y="5016500"/>
            <a:ext cx="25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826000" y="5016500"/>
            <a:ext cx="6604000" cy="698500"/>
          </a:xfrm>
          <a:prstGeom prst="roundRect">
            <a:avLst>
              <a:gd name="adj" fmla="val 7272"/>
            </a:avLst>
          </a:prstGeom>
          <a:solidFill>
            <a:srgbClr val="38BDF8">
              <a:alpha val="1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</a:ln>
        </p:spPr>
        <p:txBody>
          <a:bodyPr vert="horz" wrap="square" lIns="190500" tIns="0" rIns="0" bIns="0" rtlCol="0" anchor="ctr" anchorCtr="0">
            <a:normAutofit lnSpcReduction="1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探索未来、沉淀平台、敢试但可控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从短期交付文化，转向探索未来但可观测、可回滚、可沉淀</a:t>
            </a:r>
            <a:endParaRPr lang="en-US" sz="12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762000" y="5905500"/>
            <a:ext cx="10668000" cy="584200"/>
          </a:xfrm>
          <a:prstGeom prst="roundRect">
            <a:avLst>
              <a:gd name="adj" fmla="val 13043"/>
            </a:avLst>
          </a:prstGeom>
          <a:solidFill>
            <a:srgbClr val="8B5CF6">
              <a:alpha val="15000"/>
            </a:srgbClr>
          </a:solidFill>
          <a:ln w="12700" cap="flat" cmpd="sng">
            <a:solidFill>
              <a:srgbClr val="8B5CF6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真正的团队建设，是让团队从</a:t>
            </a:r>
            <a:r>
              <a:rPr lang="en-US" sz="1500" b="1" i="0" u="none" strike="noStrike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“按职能交付功能”</a:t>
            </a:r>
            <a:r>
              <a:rPr lang="en-US" sz="1500" b="0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转向</a:t>
            </a:r>
            <a:r>
              <a:rPr lang="en-US" sz="1500" b="1" i="0" u="none" strike="noStrike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“围绕 Agent 闭环持续创造平台能力”</a:t>
            </a:r>
            <a:r>
              <a:rPr lang="en-US" sz="1500" b="0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540000" y="-2540000"/>
            <a:ext cx="7620000" cy="7620000"/>
          </a:xfrm>
          <a:prstGeom prst="ellipse">
            <a:avLst/>
          </a:prstGeom>
          <a:solidFill>
            <a:srgbClr val="38BDF8">
              <a:alpha val="4000"/>
            </a:srgbClr>
          </a:solidFill>
          <a:ln w="12700" cap="flat" cmpd="sng">
            <a:solidFill>
              <a:srgbClr val="38BDF8">
                <a:alpha val="1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0" y="1270000"/>
            <a:ext cx="8890000" cy="8890000"/>
          </a:xfrm>
          <a:prstGeom prst="ellipse">
            <a:avLst/>
          </a:prstGeom>
          <a:solidFill>
            <a:srgbClr val="A855F7">
              <a:alpha val="3000"/>
            </a:srgbClr>
          </a:solidFill>
          <a:ln w="12700" cap="flat" cmpd="sng">
            <a:solidFill>
              <a:srgbClr val="A855F7">
                <a:alpha val="1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PART 5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286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560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需要的支持和协同重点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33159" y="3556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26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站在公司 AI Native 落地层面，建立跨团队合力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318000"/>
            <a:ext cx="990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AI Native 平台要从内部支撑走向商业化平台能力，不能只靠单个团队推进；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需要在组织授权、协同机制、资源保障和商业化试点上形成公司级共识。</a:t>
            </a:r>
            <a:endParaRPr lang="en-US" sz="16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16000" y="5461000"/>
            <a:ext cx="10160000" cy="762000"/>
          </a:xfrm>
          <a:prstGeom prst="roundRect">
            <a:avLst>
              <a:gd name="adj" fmla="val 10000"/>
            </a:avLst>
          </a:prstGeom>
          <a:solidFill>
            <a:srgbClr val="38BDF8">
              <a:alpha val="1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这一章不只是提出问题，而是明确需要哪些建设性机制，让 AI Native 平台能稳定支撑业务、客户和生态。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556000"/>
            <a:ext cx="50800" cy="508000"/>
          </a:xfrm>
          <a:prstGeom prst="roundRect">
            <a:avLst>
              <a:gd name="adj" fmla="val 7500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8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850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组织授权与协同机制：先把边界和打法定清楚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9525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AI Native 平台横跨基础平台、业务智能和安全底座。如果缺少清晰边界和固定机制，平台能力很容易被短期业务需求拉散。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87500"/>
            <a:ext cx="4318000" cy="381000"/>
          </a:xfrm>
          <a:prstGeom prst="roundRect">
            <a:avLst>
              <a:gd name="adj" fmla="val 13333"/>
            </a:avLst>
          </a:prstGeom>
          <a:solidFill>
            <a:srgbClr val="38BDF8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85000" lnSpcReduction="20000"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组织授权重点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95500"/>
            <a:ext cx="4318000" cy="1016000"/>
          </a:xfrm>
          <a:prstGeom prst="roundRect">
            <a:avLst>
              <a:gd name="adj" fmla="val 750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190500" tIns="127000" rIns="0" bIns="0" rtlCol="0" anchor="ctr" anchorCtr="0">
            <a:normAutofit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1. 平台定位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跨多业务线的横向 Agent 基础设施。</a:t>
            </a:r>
            <a:endParaRPr lang="en-US" sz="12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200"/>
              </a:spcBef>
            </a:pPr>
            <a:r>
              <a:rPr lang="en-US" sz="1200" b="0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目的：避免沦为单一业务的功能交付组</a:t>
            </a:r>
            <a:endParaRPr lang="en-US" sz="1200" b="0" i="0" u="none" strike="noStrike">
              <a:solidFill>
                <a:srgbClr val="38BDF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3238500"/>
            <a:ext cx="4318000" cy="1016000"/>
          </a:xfrm>
          <a:prstGeom prst="roundRect">
            <a:avLst>
              <a:gd name="adj" fmla="val 750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190500" tIns="127000" rIns="0" bIns="0" rtlCol="0" anchor="ctr" anchorCtr="0">
            <a:normAutofit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2. 平台标准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接入、Skill 契约、权限、评测须统一标准。</a:t>
            </a:r>
            <a:endParaRPr lang="en-US" sz="12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200"/>
              </a:spcBef>
            </a:pPr>
            <a:r>
              <a:rPr lang="en-US" sz="1200" b="0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目的：避免业务线各自绕开底座重复建设</a:t>
            </a:r>
            <a:endParaRPr lang="en-US" sz="1200" b="0" i="0" u="none" strike="noStrike">
              <a:solidFill>
                <a:srgbClr val="38BDF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4381500"/>
            <a:ext cx="4318000" cy="1016000"/>
          </a:xfrm>
          <a:prstGeom prst="roundRect">
            <a:avLst>
              <a:gd name="adj" fmla="val 750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190500" tIns="127000" rIns="0" bIns="0" rtlCol="0" anchor="ctr" anchorCtr="0">
            <a:normAutofit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3. 团队边界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aPaaS、数据、平台、业务的职责严格划分。</a:t>
            </a:r>
            <a:endParaRPr lang="en-US" sz="12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200"/>
              </a:spcBef>
            </a:pPr>
            <a:r>
              <a:rPr lang="en-US" sz="1200" b="0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目的：减少协作摩擦，提升交付确定性</a:t>
            </a:r>
            <a:endParaRPr lang="en-US" sz="1200" b="0" i="0" u="none" strike="noStrike">
              <a:solidFill>
                <a:srgbClr val="38BDF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334000" y="1587500"/>
            <a:ext cx="6096000" cy="381000"/>
          </a:xfrm>
          <a:prstGeom prst="roundRect">
            <a:avLst>
              <a:gd name="adj" fmla="val 13333"/>
            </a:avLst>
          </a:prstGeom>
          <a:solidFill>
            <a:srgbClr val="A855F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85000" lnSpcReduction="20000"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跨团队协同机制</a:t>
            </a:r>
            <a:endParaRPr lang="en-US" sz="1100"/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5334000" y="2095500"/>
          <a:ext cx="6096000" cy="3238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51000"/>
                <a:gridCol w="2032000"/>
                <a:gridCol w="2413000"/>
              </a:tblGrid>
              <a:tr h="381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94A3B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协同对象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94A3B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协同重点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94A3B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建设性机制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aPaaS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XOQL、权限、工作流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A855F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固定接口契约、边界评审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语义/Data/生态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 Pipeline、生态资源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A855F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接入规范、共建评估集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三大智能业务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场景 PRD、客户反馈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A855F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周级共建、联合验收闭环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商业化/运营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计量、定价、价值证明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A855F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成本归因、标杆客户机制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8FAF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安全/基础设施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BD5E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模型资源、网关、合规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A855F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安全评审、稳定性保障</a:t>
                      </a:r>
                      <a:endParaRPr lang="en-US" sz="1100"/>
                    </a:p>
                  </a:txBody>
                  <a:tcPr marL="63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AutoShape 10"/>
          <p:cNvSpPr/>
          <p:nvPr/>
        </p:nvSpPr>
        <p:spPr>
          <a:xfrm>
            <a:off x="762000" y="5651500"/>
            <a:ext cx="10668000" cy="508000"/>
          </a:xfrm>
          <a:prstGeom prst="roundRect">
            <a:avLst>
              <a:gd name="adj" fmla="val 15000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475569">
                <a:alpha val="8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协同不是临时拉群，而是要形成</a:t>
            </a:r>
            <a:r>
              <a:rPr lang="en-US" sz="16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接口契约、共建节奏、联合验收和问题闭环</a:t>
            </a:r>
            <a:r>
              <a:rPr lang="en-US" sz="15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8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85000" lnSpcReduction="2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资源与试点保障：支撑商业化能力跃迁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952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面向 CRM 终端客户和生态伙伴开放，需要的不只是人力，更是模型资源、标杆试点和商业化机制的综合保障。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87500"/>
            <a:ext cx="3048000" cy="1651000"/>
          </a:xfrm>
          <a:prstGeom prst="roundRect">
            <a:avLst>
              <a:gd name="adj" fmla="val 4615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</a:ln>
        </p:spPr>
        <p:txBody>
          <a:bodyPr vert="horz" wrap="square" lIns="190500" tIns="190500" rIns="19050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1. 模型与基建预算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资源：模型调用、向量库、解析、ASR/OCR、观测系统</a:t>
            </a:r>
            <a:endParaRPr lang="en-US" sz="1200" b="0" i="0" u="none" strike="noStrike">
              <a:solidFill>
                <a:srgbClr val="F8FAF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目的：保障平台稳定性、成本可控和规模化运行能力</a:t>
            </a:r>
            <a:endParaRPr lang="en-US" sz="11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4000500" y="1587500"/>
            <a:ext cx="3048000" cy="1651000"/>
          </a:xfrm>
          <a:prstGeom prst="roundRect">
            <a:avLst>
              <a:gd name="adj" fmla="val 4615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A855F7">
                <a:alpha val="40000"/>
              </a:srgbClr>
            </a:solidFill>
            <a:prstDash val="solid"/>
            <a:round/>
          </a:ln>
        </p:spPr>
        <p:txBody>
          <a:bodyPr vert="horz" wrap="square" lIns="190500" tIns="190500" rIns="19050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855F7"/>
                </a:solidFill>
                <a:latin typeface="Noto Sans SC"/>
                <a:ea typeface="Noto Sans SC"/>
                <a:cs typeface="Noto Sans SC"/>
                <a:sym typeface="Noto Sans SC"/>
              </a:rPr>
              <a:t>2. 关键能力补强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方向：评测工程、数据运营、平台商业化产品、Runtime 架构</a:t>
            </a:r>
            <a:endParaRPr lang="en-US" sz="1200" b="0" i="0" u="none" strike="noStrike">
              <a:solidFill>
                <a:srgbClr val="F8FAF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目的：补齐当前在质量评估、运营和商业包装上的短板</a:t>
            </a:r>
            <a:endParaRPr lang="en-US" sz="11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3429000"/>
            <a:ext cx="3048000" cy="1651000"/>
          </a:xfrm>
          <a:prstGeom prst="roundRect">
            <a:avLst>
              <a:gd name="adj" fmla="val 4615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F59E0B">
                <a:alpha val="40000"/>
              </a:srgbClr>
            </a:solidFill>
            <a:prstDash val="solid"/>
            <a:round/>
          </a:ln>
        </p:spPr>
        <p:txBody>
          <a:bodyPr vert="horz" wrap="square" lIns="190500" tIns="190500" rIns="19050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3. 标杆客户试点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授权：平台侧直接介入标杆客户问题复盘和质量运营</a:t>
            </a:r>
            <a:endParaRPr lang="en-US" sz="1200" b="0" i="0" u="none" strike="noStrike">
              <a:solidFill>
                <a:srgbClr val="F8FAF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目的：让平台能力在真实客户现场被充分验证和打磨</a:t>
            </a:r>
            <a:endParaRPr lang="en-US" sz="11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000500" y="3429000"/>
            <a:ext cx="3048000" cy="1651000"/>
          </a:xfrm>
          <a:prstGeom prst="roundRect">
            <a:avLst>
              <a:gd name="adj" fmla="val 4615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190500" tIns="190500" rIns="19050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4. 商业化机制共建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机制：资源点、租户配额、独立售卖/增值售卖包装</a:t>
            </a:r>
            <a:endParaRPr lang="en-US" sz="1200" b="0" i="0" u="none" strike="noStrike">
              <a:solidFill>
                <a:srgbClr val="F8FAF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目的：支撑系统从内部工具正式走向可独立计费的平台能力</a:t>
            </a:r>
            <a:endParaRPr lang="en-US" sz="11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366000" y="1587500"/>
            <a:ext cx="4064000" cy="3492500"/>
          </a:xfrm>
          <a:prstGeom prst="roundRect">
            <a:avLst>
              <a:gd name="adj" fmla="val 2181"/>
            </a:avLst>
          </a:prstGeom>
          <a:solidFill>
            <a:srgbClr val="0F172A">
              <a:alpha val="100000"/>
            </a:srgbClr>
          </a:solidFill>
          <a:ln w="25400" cap="flat" cmpd="sng">
            <a:solidFill>
              <a:srgbClr val="EC4899">
                <a:alpha val="50000"/>
              </a:srgbClr>
            </a:solidFill>
            <a:prstDash val="solid"/>
            <a:round/>
          </a:ln>
          <a:effectLst>
            <a:outerShdw blurRad="190500" dist="50800" dir="2700000" algn="tl" rotWithShape="0">
              <a:srgbClr val="EC4899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366000" y="1587500"/>
            <a:ext cx="4064000" cy="571500"/>
          </a:xfrm>
          <a:prstGeom prst="roundRect">
            <a:avLst>
              <a:gd name="adj" fmla="val 13333"/>
            </a:avLst>
          </a:prstGeom>
          <a:solidFill>
            <a:srgbClr val="EC4899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核心试点推进建议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556500" y="2349500"/>
            <a:ext cx="3683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spcBef>
                <a:spcPts val="400"/>
              </a:spcBef>
              <a:defRPr/>
            </a:pPr>
            <a:r>
              <a:rPr lang="en-US" sz="1300" b="0" i="0" u="none" strike="noStrike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300" b="0" i="0" u="none" strike="noStrik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1" i="0" u="none" strike="noStrike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快速形成样板：</a:t>
            </a:r>
            <a:r>
              <a:rPr lang="en-US" sz="1300" b="0" i="0" u="none" strike="noStrik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5-8 月优先围绕销售、渠道、服务三线各选择清晰场景，打造平台级样板。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300" b="0" i="0" u="none" strike="noStrik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1" i="0" u="none" strike="noStrike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打破客户问题边界：</a:t>
            </a:r>
            <a:r>
              <a:rPr lang="en-US" sz="1300" b="0" i="0" u="none" strike="noStrik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标杆客户的问题绝不能只停留在业务线内部，必须直接进入平台池与评测集。</a:t>
            </a:r>
            <a:endParaRPr lang="en-US" sz="1300" b="0" i="0" u="none" strike="noStrike">
              <a:solidFill>
                <a:srgbClr val="F1F5F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300" b="0" i="0" u="none" strike="noStrik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1" i="0" u="none" strike="noStrike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同步跑通商业化：</a:t>
            </a:r>
            <a:r>
              <a:rPr lang="en-US" sz="1300" b="0" i="0" u="none" strike="noStrik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商业包装不等平台成熟后再做，要在试点中同步验证资源计量与价值付费。</a:t>
            </a:r>
            <a:endParaRPr lang="en-US" sz="1300" b="0" i="0" u="none" strike="noStrike">
              <a:solidFill>
                <a:srgbClr val="F1F5F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5588000"/>
            <a:ext cx="10668000" cy="584200"/>
          </a:xfrm>
          <a:prstGeom prst="roundRect">
            <a:avLst>
              <a:gd name="adj" fmla="val 13043"/>
            </a:avLst>
          </a:prstGeom>
          <a:solidFill>
            <a:srgbClr val="EC4899">
              <a:alpha val="10000"/>
            </a:srgbClr>
          </a:solidFill>
          <a:ln w="12700" cap="flat" cmpd="sng">
            <a:solidFill>
              <a:srgbClr val="EC4899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资源支持不是单纯要人要钱，而是保障 AI Native 平台能</a:t>
            </a:r>
            <a:r>
              <a:rPr lang="en-US" sz="1500" b="1" i="0" u="none" strike="noStrike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完成从内部支撑到商业化能力的跃迁</a:t>
            </a:r>
            <a:r>
              <a:rPr lang="en-US" sz="1500" b="0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2540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lnSpcReduction="20000"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谢谢聆听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3683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Q &amp; A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10455</Words>
  <Application>WPS 演示</Application>
  <PresentationFormat/>
  <Paragraphs>1022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31</vt:i4>
      </vt:variant>
    </vt:vector>
  </HeadingPairs>
  <TitlesOfParts>
    <vt:vector size="52" baseType="lpstr">
      <vt:lpstr>Arial</vt:lpstr>
      <vt:lpstr>宋体</vt:lpstr>
      <vt:lpstr>Wingdings</vt:lpstr>
      <vt:lpstr>Arial</vt:lpstr>
      <vt:lpstr>Inter</vt:lpstr>
      <vt:lpstr>Thonburi</vt:lpstr>
      <vt:lpstr>Noto Sans SC</vt:lpstr>
      <vt:lpstr>Roboto</vt:lpstr>
      <vt:lpstr>宋体</vt:lpstr>
      <vt:lpstr>汉仪书宋二KW</vt:lpstr>
      <vt:lpstr>微软雅黑</vt:lpstr>
      <vt:lpstr>汉仪旗黑</vt:lpstr>
      <vt:lpstr>Arial Unicode MS</vt:lpstr>
      <vt:lpstr>Inter</vt:lpstr>
      <vt:lpstr>Noto Sans SC</vt:lpstr>
      <vt:lpstr>Roboto</vt:lpstr>
      <vt:lpstr>苹方-简</vt:lpstr>
      <vt:lpstr>Apple Color Emoji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刘超</cp:lastModifiedBy>
  <cp:revision>2</cp:revision>
  <dcterms:created xsi:type="dcterms:W3CDTF">2026-05-17T09:36:27Z</dcterms:created>
  <dcterms:modified xsi:type="dcterms:W3CDTF">2026-05-17T09:36:27Z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7023B4FA9E833F24948B096AB94F07C3_42</vt:lpwstr>
  </property>
  <property fmtid="{D5CDD505-2E9C-101B-9397-08002B2CF9AE}" pid="3" name="KSOProductBuildVer">
    <vt:lpwstr>2052-12.1.25869.25869</vt:lpwstr>
  </property>
</Properties>
</file>