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【注释】封面页，先明确本次汇报不是单点 AI 工具介绍，而是公司级研发流程升级汇报。</a:t>
            </a:r>
            <a:endParaRPr lang="zh-CN" sz="1200"/>
          </a:p>
          <a:p>
            <a:pPr algn="l"/>
            <a:r>
              <a:rPr lang="zh-CN" sz="1200"/>
              <a:t>【口播】今天汇报的主题是基于 SDD 的 AI 原生研发提效体系。核心不是让 AI 多写几行代码，而是把需求、设计、开发、测试、交接这条研发链路规格化、流程化，让 Agent Teams 可以在人的监督和决策下稳定参与交付。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【注释】Part 1 负责破题：为什么需要从局部 AI 编码辅助升级到 SDD + Agent 研发流程。</a:t>
            </a:r>
            <a:endParaRPr lang="zh-CN" sz="1200"/>
          </a:p>
          <a:p>
            <a:pPr algn="l"/>
            <a:r>
              <a:rPr lang="zh-CN" sz="1200"/>
              <a:t>【口播】第一部分先讲为什么需要这套体系。我们看到的瓶颈已经不只是编码速度，而是端到端研发链路中的理解、协作、验证和知识复用损耗。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【注释】本页是全稿核心观点页，要避免讲成“AI 替代研发”，重点是“流程可被 AI 执行”。</a:t>
            </a:r>
            <a:endParaRPr lang="zh-CN" sz="1200"/>
          </a:p>
          <a:p>
            <a:pPr algn="l"/>
            <a:r>
              <a:rPr lang="zh-CN" sz="1200"/>
              <a:t>【口播】过去 AI 更多是 Copilot，在编码局部提供帮助，但研发主流程仍然依赖人工理解、协调和推进。现在我们希望把流程结构化：人负责目标、边界、规格、验收和关键判断，Agent Teams 按规格协同推进关键研发任务。真正的提效空间在流程重构，而不是单点代码生成。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【注释】本页描述传统研发流程和推广中团队的典型链路损耗，后文会说明 AI 团队已通过新流程逐步缓解。</a:t>
            </a:r>
            <a:endParaRPr lang="zh-CN" sz="1200"/>
          </a:p>
          <a:p>
            <a:pPr algn="l"/>
            <a:r>
              <a:rPr lang="zh-CN" sz="1200"/>
              <a:t>【口播】研发效率的主要损耗发生在端到端链路里。需求背景散落、技术边界不清、上下文反复补齐、review 和测试后置、handoff 不标准，都会让交付变慢。只优化写代码无法解决这些问题，必须把完整链路结构化。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【注释】本页完成 Part 1 的转折：从人工主导执行，转向人类决策调度 + Agent 协同执行。</a:t>
            </a:r>
            <a:endParaRPr lang="zh-CN" sz="1200"/>
          </a:p>
          <a:p>
            <a:pPr algn="l"/>
            <a:r>
              <a:rPr lang="zh-CN" sz="1200"/>
              <a:t>【口播】这里的转型不是替代研发人员，而是改变研发人员的工作重心。过去更多是人工主导执行，现在人要更多负责目标定义、边界判断、质量验收和调度决策，Agent 承接关键任务。这样才能从个人效率提升，走向组织研发效率提升。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【注释】Part 2 进入目标体系，回答“这套体系到底是什么”。</a:t>
            </a:r>
            <a:endParaRPr lang="zh-CN" sz="1200"/>
          </a:p>
          <a:p>
            <a:pPr algn="l"/>
            <a:r>
              <a:rPr lang="zh-CN" sz="1200"/>
              <a:t>【口播】第二部分展开目标体系。我们会依次说明 SDD 方法、体系分层、Agent Teams 分工、平台基础设施，以及为什么这些资产会形成 Agent 能力飞轮和人员能力牵引。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【注释】本页定义 SDD：先规格，后执行。注意任务拆分应基于产品规约和技术规格。</a:t>
            </a:r>
            <a:endParaRPr lang="zh-CN" sz="1200"/>
          </a:p>
          <a:p>
            <a:pPr algn="l"/>
            <a:r>
              <a:rPr lang="zh-CN" sz="1200"/>
              <a:t>【口播】SDD 的核心是用规格驱动 Agent，而不是用一句模糊需求直接驱动代码。需求先沉淀为产品规约，再形成技术规格和 OpenSpec，之后再拆任务、实现、测试和交接。规格越清晰，Agent 的执行边界、审查标准和验证路径就越清楚。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【注释】本页给出总架构：人类产研团队、SDD 规格层、Agent Teams 执行层、平台基础设施和知识闭环。</a:t>
            </a:r>
            <a:endParaRPr lang="zh-CN" sz="1200"/>
          </a:p>
          <a:p>
            <a:pPr algn="l"/>
            <a:r>
              <a:rPr lang="zh-CN" sz="1200"/>
              <a:t>【口播】整体体系可以分成几层。人类负责目标、业务判断和关键决策；SDD 规格层负责把需求变成可执行规格；Agent Teams 承接执行；TCHub、MCP、Gerrit、Jira、Wiki、Figma、Kiro 等基础设施让 Agent 接入真实研发环境；最后所有过程反哺知识和质量闭环。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【注释】本页展开执行层，说明不是一个 Agent 包打天下，而是按角色协同。</a:t>
            </a:r>
            <a:endParaRPr lang="zh-CN" sz="1200"/>
          </a:p>
          <a:p>
            <a:pPr algn="l"/>
            <a:r>
              <a:rPr lang="zh-CN" sz="1200"/>
              <a:t>【口播】Agent Teams 的价值在于角色分工。mainAgent 负责入口、拆解和调度；pmAgent 负责需求澄清和规约；前后端 Agent 负责设计和实现；reviewAgent 前置质量审查；testAgent 建立验证闭环；docSyncAgent 保证知识和交接可信。这是研发角色编排，不是简单并发写代码。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【注释】本页展开基础设施层，承接 P9：Agent 要稳定工作，需要知识、规格、工具和可视化治理。</a:t>
            </a:r>
            <a:endParaRPr lang="zh-CN" sz="1200"/>
          </a:p>
          <a:p>
            <a:pPr algn="l"/>
            <a:r>
              <a:rPr lang="zh-CN" sz="1200"/>
              <a:t>【口播】体系不是单个 Agent，而是一组可治理的平台能力。TCHub 承接上下文和知识资产，OpenSpec 管理规格，MCP 连接真实工具链，Skill Hub 沉淀可复用能力，Kiro 工作台和协作规范让 Agent 工作过程逐步可见、可追踪、可治理。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【注释】本页只证明体系已经真实运行，不讲效率提升；效率数据放到 Part 3。</a:t>
            </a:r>
            <a:endParaRPr lang="zh-CN" sz="1200"/>
          </a:p>
          <a:p>
            <a:pPr algn="l"/>
            <a:r>
              <a:rPr lang="zh-CN" sz="1200"/>
              <a:t>【口播】这页是基础设施运行证据。TCHub 已经有 active 用户、项目、workstream、文档、测试用例、Skill 资产和 MCP 调用，说明它不是概念型知识库，而是已经开始承接真实研发过程。这里先证明体系跑起来了，后面 Part 3 再看跑起来之后的效率改善。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【注释】本页说明为什么越用越强：真实需求、文档、测试、Skill 和 MCP 调用会反哺 Agent 能力。</a:t>
            </a:r>
            <a:endParaRPr lang="zh-CN" sz="1200"/>
          </a:p>
          <a:p>
            <a:pPr algn="l"/>
            <a:r>
              <a:rPr lang="zh-CN" sz="1200"/>
              <a:t>【口播】当真实 workstream、文档、测试用例、Skills 和 MCP 调用持续沉淀后，Agent 能力就不再依赖一次性提示词，而会进入持续增强的飞轮。真实需求暴露规则和约束，团队把这些沉淀为规范、Skills 和上下文模板，Agent 就会越来越懂公司代码和业务。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【注释】本页回答体系落地对人的要求：不是人人立刻全栈，而是逐步成为全链路 Owner。</a:t>
            </a:r>
            <a:endParaRPr lang="zh-CN" sz="1200"/>
          </a:p>
          <a:p>
            <a:pPr algn="l"/>
            <a:r>
              <a:rPr lang="zh-CN" sz="1200"/>
              <a:t>【口播】这套体系也会牵引人员能力升级。未来核心成员不只是完成自己模块的代码，而要理解需求、设计、测试和交接全链路，能够澄清边界、调度 Agent、审查结果并沉淀知识。短期靠骨干带动，中长期让更多成员具备 AI 原生研发 Owner 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【注释】Part 3 负责讲“如何提效”：先机制，再数据，再看板。</a:t>
            </a:r>
            <a:endParaRPr lang="zh-CN" sz="1200"/>
          </a:p>
          <a:p>
            <a:pPr algn="l"/>
            <a:r>
              <a:rPr lang="zh-CN" sz="1200"/>
              <a:t>【口播】第三部分先讲五个提效机制：需求结构化、规格驱动执行、并行推进、质量前置和知识复用；再用 TCHub completed workstream 数据验证交付节奏；最后说明如何沉淀为持续指标看板。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【注释】提效机制一：把反复沟通沉淀为可审查规格。注意不要讲成跳过人工判断。</a:t>
            </a:r>
            <a:endParaRPr lang="zh-CN" sz="1200"/>
          </a:p>
          <a:p>
            <a:pPr algn="l"/>
            <a:r>
              <a:rPr lang="zh-CN" sz="1200"/>
              <a:t>【口播】需求阶段的提效不是省掉沟通，而是让沟通结果更快沉淀下来。TCHub 聚合历史背景和决策，pmAgent 辅助澄清问题，并沉淀为可审查的产品规约。这样研发和测试进入后续阶段时，看到的是结构化规格，而不是零散信息。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【注释】提效机制二：单个 workstream 内按规格推进，强调执行边界和审查点。</a:t>
            </a:r>
            <a:endParaRPr lang="zh-CN" sz="1200"/>
          </a:p>
          <a:p>
            <a:pPr algn="l"/>
            <a:r>
              <a:rPr lang="zh-CN" sz="1200"/>
              <a:t>【口播】开发执行阶段，过去常常是按口头理解写代码，边写边补细节。SDD 之后，产品规约、技术规格、任务拆分、实现、review 和 test 是一条可追踪链路。Agent 的边界更清楚，人也能在关键节点审查和纠偏。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【注释】提效机制三：P16 讲单个需求稳定推进，P17 讲多个 story 并行流转。</a:t>
            </a:r>
            <a:endParaRPr lang="zh-CN" sz="1200"/>
          </a:p>
          <a:p>
            <a:pPr algn="l"/>
            <a:r>
              <a:rPr lang="zh-CN" sz="1200"/>
              <a:t>【口播】体系化提效不只是让单个开发者更快，而是让多个 story 处于不同阶段并行推进。一个需求在产品规约阶段，另一个在开发实现阶段，第三个在测试和 handoff 阶段。这样团队吞吐来自流程并行，而不是单点加速。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【注释】提效机制四：review 已进入流程，测试自动化仍处于完善期，要如实说明。</a:t>
            </a:r>
            <a:endParaRPr lang="zh-CN" sz="1200"/>
          </a:p>
          <a:p>
            <a:pPr algn="l"/>
            <a:r>
              <a:rPr lang="zh-CN" sz="1200"/>
              <a:t>【口播】质量前置是这套体系很关键的一环。reviewAgent 已经进入设计和代码审查流程，发现问题后回到 builder 修复复审。测试链路也已形成初步雏形，包括接口测试、场景化测试和 UI E2E，但还需要更多真实需求来验证稳定性、断言质量和失败诊断能力。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【注释】提效机制五：每次交付都要反哺下一次研发，形成上下文资产。</a:t>
            </a:r>
            <a:endParaRPr lang="zh-CN" sz="1200"/>
          </a:p>
          <a:p>
            <a:pPr algn="l"/>
            <a:r>
              <a:rPr lang="zh-CN" sz="1200"/>
              <a:t>【口播】长期价值来自知识闭环。每个需求沉淀产品规约、技术规格、API、测试用例、测试报告、决策、阻塞、handoff 和经验记忆。这些资产会形成 Agent Context Pack，下一次相似需求启动时可以直接召回，减少重复解释和重复踩坑。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【注释】这是 Part 3 的核心数据证明页。口径是初步度量，不要讲成严格 ROI 对照实验。</a:t>
            </a:r>
            <a:endParaRPr lang="zh-CN" sz="1200"/>
          </a:p>
          <a:p>
            <a:pPr algn="l"/>
            <a:r>
              <a:rPr lang="zh-CN" sz="1200"/>
              <a:t>【口播】从当前 TCHub 生产记录看，96 个 completed workstream 已经体现出可观察的交付节奏改善：全生命周期中位 8.2 天，71% 在两周内闭环，4 月下半月相对上半月同口径中位耗时下降明显。TCHub 自举项目中位 2.3 天、100% 一周内闭环，说明工具链和上下文成熟后有更高潜力。这不是严格对照实验，但足以说明真实样本里已经出现积极趋势。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【注释】本页从一次性统计转向持续看板，承接 P20。</a:t>
            </a:r>
            <a:endParaRPr lang="zh-CN" sz="1200"/>
          </a:p>
          <a:p>
            <a:pPr algn="l"/>
            <a:r>
              <a:rPr lang="zh-CN" sz="1200"/>
              <a:t>【口播】P20 是当前能拉到的一次性初步度量，下一步要把这些口径固化成长期看板。我们不能只看节省多少人天，而要持续看流程效率、质量稳定性、知识复用和 Agent 准确率，比如 workstream 周期、review 轮次、测试通过率、handoff 覆盖率和 Skill 复用情况。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【注释】Part 4 进入行动闭环：现状、准确率、推广、支持、风险、收口。</a:t>
            </a:r>
            <a:endParaRPr lang="zh-CN" sz="1200"/>
          </a:p>
          <a:p>
            <a:pPr algn="l"/>
            <a:r>
              <a:rPr lang="zh-CN" sz="1200"/>
              <a:t>【口播】第四部分讲下一阶段怎么完善和规模化推广。逻辑是先看当前运行现状，再讲 Agent 准确率提升、多业务线推广、需要的组织支持、风险控制，最后收口到公司级研发平台能力。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【注释】本页说明当前不是试点，已经在跑；注意区分 AI 团队流程采用和 AI 相关项目数据口径。</a:t>
            </a:r>
            <a:endParaRPr lang="zh-CN" sz="1200"/>
          </a:p>
          <a:p>
            <a:pPr algn="l"/>
            <a:r>
              <a:rPr lang="zh-CN" sz="1200"/>
              <a:t>【口播】这套流程已经不是待验证试点。AI 团队内部已全面遵循 SDD + Agent Teams；AI 相关项目贡献 52/96 个 completed workstream，是当前使用最深、规则和 Skills 沉淀最多的主阵地。服务云和 neoUI 也有业务线样本。下一步重点不是验证能不能跑，而是让它在更多业务线中更稳定、更准确、更低成本地运行。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【注释】本页聚焦 Agent 准确率和稳定性，不展开组织推广。</a:t>
            </a:r>
            <a:endParaRPr lang="zh-CN" sz="1200"/>
          </a:p>
          <a:p>
            <a:pPr algn="l"/>
            <a:r>
              <a:rPr lang="zh-CN" sz="1200"/>
              <a:t>【口播】下一阶段不是让 Agent 做更多事，而是让 Agent 做得更准、更稳、更可审查。关键动作包括提升规格质量、沉淀 Agent 规则、补充专业 Skills、优化上下文召回、建立评测和回归机制，并强化质量门禁。准确率上来以后，规模化推广才有基础。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【注释】本页聚焦多业务线推广，核心是收敛分散探索，而不是各团队各建一套。</a:t>
            </a:r>
            <a:endParaRPr lang="zh-CN" sz="1200"/>
          </a:p>
          <a:p>
            <a:pPr algn="l"/>
            <a:r>
              <a:rPr lang="zh-CN" sz="1200"/>
              <a:t>【口播】各团队已经有一些 Agent 提效探索，但标准、资产沉淀和治理水平不一致。推广的关键不是让各团队各自搭一套 Agent，而是统一到 SDD 流程、TCHub、Skill Hub 和指标看板中，同时保留业务线自己的规则、代码知识和测试资产。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【注释】本页是组织支持清单，不是单纯技术路线。</a:t>
            </a:r>
            <a:endParaRPr lang="zh-CN" sz="1200"/>
          </a:p>
          <a:p>
            <a:pPr algn="l"/>
            <a:r>
              <a:rPr lang="zh-CN" sz="1200"/>
              <a:t>【口播】要让这套体系真正规模化，需要组织层面的支持。首先是形成流程共识，从使用 AI 工具转向按 AI 原生研发流程组织交付；其次是业务线提供真实需求、规则和反馈；同时要推动团队经验收敛、知识和 Skill 共建、质量评测机制建设，以及 TCHub、Skill Hub、MCP、Kiro 工作台的持续产品化。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【注释】本页说明规模化不是放任 Agent，而是把风险前置到流程和平台。</a:t>
            </a:r>
            <a:endParaRPr lang="zh-CN" sz="1200"/>
          </a:p>
          <a:p>
            <a:pPr algn="l"/>
            <a:r>
              <a:rPr lang="zh-CN" sz="1200"/>
              <a:t>【口播】规模化推广必须正视风险。Agent 准确率波动要靠评测、失败案例库和 reviewAgent 前置控制；知识过期要靠生命周期治理；各团队建设发散要通过统一 SDD、TCHub 归集和复用边界收敛；权限和测试风险要通过 MCP 授权审计、测试断言和失败回溯机制前置控制。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【注释】收口页，把全稿从工具提效提升到公司级平台能力。</a:t>
            </a:r>
            <a:endParaRPr lang="zh-CN" sz="1200"/>
          </a:p>
          <a:p>
            <a:pPr algn="l"/>
            <a:r>
              <a:rPr lang="zh-CN" sz="1200"/>
              <a:t>【口播】最后收口到一个判断：真正的护城河不是引入某个模型，而是公司自己的规格、流程、知识和质量体系能被 Agent Teams 持续执行和反哺。下一阶段要形成流程共识，推动业务线共建规则、Skills、测试资产和真实案例，持续完善 TCHub、Skill Hub、MCP 和 Kiro 工作台，把局部 Agent 提效探索沉淀为公司级 AI 原生研发平台能力。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【注释】收口页，把全稿从工具提效提升到公司级平台能力。</a:t>
            </a:r>
            <a:endParaRPr lang="zh-CN" sz="1200"/>
          </a:p>
          <a:p>
            <a:pPr algn="l"/>
            <a:r>
              <a:rPr lang="zh-CN" sz="1200"/>
              <a:t>【口播】最后收口到一个判断：真正的护城河不是引入某个模型，而是公司自己的规格、流程、知识和质量体系能被 Agent Teams 持续执行和反哺。下一阶段要形成流程共识，推动业务线共建规则、Skills、测试资产和真实案例，持续完善 TCHub、Skill Hub、MCP 和 Kiro 工作台，把局部 Agent 提效探索沉淀为公司级 AI 原生研发平台能力。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540000"/>
            <a:ext cx="16256000" cy="660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11827">
                  <a:alpha val="0"/>
                </a:srgbClr>
              </a:gs>
              <a:gs pos="100000">
                <a:srgbClr val="111827">
                  <a:alpha val="9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5334000"/>
            <a:ext cx="14224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75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基于 SDD 的 AI 原生研发提效体系建设汇报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6985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从“AI 辅助编码”升级为“规格驱动、多 Agent 协同、人类决策调度”的研发新流程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255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汇报人：刘超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00" y="-1270000"/>
            <a:ext cx="7620000" cy="762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335000" y="635000"/>
            <a:ext cx="3810000" cy="381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24000" y="3556000"/>
            <a:ext cx="13208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PART 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4445000"/>
            <a:ext cx="762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4849130"/>
            <a:ext cx="13495796" cy="9632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为什么需要 SDD + AI Agent 研发提效体系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75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 研发提效的关键，不是让 AI 多写代码，而是让研发流程可被 AI 执行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841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6731000" cy="4826000"/>
          </a:xfrm>
          <a:prstGeom prst="roundRect">
            <a:avLst>
              <a:gd name="adj" fmla="val 2105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6731000" cy="76200"/>
          </a:xfrm>
          <a:prstGeom prst="roundRect">
            <a:avLst>
              <a:gd name="adj" fmla="val 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3429000"/>
            <a:ext cx="5715000" cy="381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过去：人工驱动的局部辅助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20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• 人负责理解需求、拆任务、写代码</a:t>
            </a:r>
            <a:endParaRPr lang="en-US" sz="20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20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• 人负责补测试、追文档</a:t>
            </a:r>
            <a:endParaRPr lang="en-US" sz="20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20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• AI 主要作为 Copilot，在编码局部提供辅助</a:t>
            </a:r>
            <a:endParaRPr lang="en-US" sz="20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3200"/>
              </a:spcBef>
            </a:pPr>
            <a:r>
              <a:rPr lang="en-US" sz="20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痛点：研发主流程仍主要依赖人工理解、协调和推进。</a:t>
            </a:r>
            <a:endParaRPr lang="en-US" sz="20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09000" y="2794000"/>
            <a:ext cx="6731000" cy="4826000"/>
          </a:xfrm>
          <a:prstGeom prst="roundRect">
            <a:avLst>
              <a:gd name="adj" fmla="val 2105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09000" y="2794000"/>
            <a:ext cx="6731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17000" y="3429000"/>
            <a:ext cx="5715000" cy="381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现在：规格驱动的系统流转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20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• 人负责设定目标、边界、规格与关键决策</a:t>
            </a:r>
            <a:endParaRPr lang="en-US" sz="20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20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• 人负责结果的验收和监督</a:t>
            </a:r>
            <a:endParaRPr lang="en-US" sz="20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20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• Agent Teams 按规格协同推进研发链路中的关键任务</a:t>
            </a:r>
            <a:endParaRPr lang="en-US" sz="20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3200"/>
              </a:spcBef>
            </a:pPr>
            <a:r>
              <a:rPr lang="en-US" sz="20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转变：AI 从“聊天助手”转向“流程执行者”。</a:t>
            </a:r>
            <a:endParaRPr lang="en-US" sz="2000" b="1" i="0" u="none" strike="noStrike">
              <a:solidFill>
                <a:srgbClr val="63B3E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937500" y="4953000"/>
            <a:ext cx="381000" cy="508000"/>
          </a:xfrm>
          <a:prstGeom prst="rightArrow">
            <a:avLst/>
          </a:prstGeom>
          <a:solidFill>
            <a:srgbClr val="3182C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422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42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产研效率瓶颈，主要来自端到端链路损耗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以下问题主要描述传统研发流程和正在推广团队中的典型链路损耗；AI 团队已通过 SDD + Agent Teams 流程在逐步缓解这些问题。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63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182CE">
                    <a:alpha val="4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2540000" cy="1905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029200"/>
            <a:ext cx="2540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3365500"/>
            <a:ext cx="2159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需求理解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背景散落在 Jira、Wiki、会议和聊天记录，共识成本高。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746500" y="4127500"/>
            <a:ext cx="127000" cy="127000"/>
          </a:xfrm>
          <a:prstGeom prst="ellipse">
            <a:avLst/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064000" y="5080000"/>
            <a:ext cx="63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9F7AEA">
                    <a:alpha val="4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64000" y="5715000"/>
            <a:ext cx="2540000" cy="1905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064000" y="7569200"/>
            <a:ext cx="2540000" cy="50800"/>
          </a:xfrm>
          <a:prstGeom prst="roundRect">
            <a:avLst>
              <a:gd name="adj" fmla="val 0"/>
            </a:avLst>
          </a:prstGeom>
          <a:solidFill>
            <a:srgbClr val="9F7A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254500" y="5905500"/>
            <a:ext cx="2159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技术设计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架构约束、接口边界、历史决策不清，导致实现反复改。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794500" y="6667500"/>
            <a:ext cx="127000" cy="127000"/>
          </a:xfrm>
          <a:prstGeom prst="ellipse">
            <a:avLst/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112000" y="2540000"/>
            <a:ext cx="63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8B2AC">
                    <a:alpha val="4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3175000"/>
            <a:ext cx="2540000" cy="1905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112000" y="5029200"/>
            <a:ext cx="2540000" cy="508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302500" y="3365500"/>
            <a:ext cx="2159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Inter"/>
                <a:ea typeface="Inter"/>
                <a:cs typeface="Inter"/>
                <a:sym typeface="Inter"/>
              </a:rPr>
              <a:t>开发实现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每次人员或 Agent 介入时都需要重新补齐上下文，启动慢协作难。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842500" y="4127500"/>
            <a:ext cx="127000" cy="127000"/>
          </a:xfrm>
          <a:prstGeom prst="ellipse">
            <a:avLst/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0" y="5080000"/>
            <a:ext cx="63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ED8936">
                    <a:alpha val="4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0" y="5715000"/>
            <a:ext cx="2540000" cy="1905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0" y="7569200"/>
            <a:ext cx="2540000" cy="508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350500" y="5905500"/>
            <a:ext cx="2159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审查测试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Review、测试和修复后置，风险集中到 QA 环节或上线前。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2890500" y="6667500"/>
            <a:ext cx="127000" cy="127000"/>
          </a:xfrm>
          <a:prstGeom prst="ellipse">
            <a:avLst/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3208000" y="2540000"/>
            <a:ext cx="63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F56565">
                    <a:alpha val="4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208000" y="3175000"/>
            <a:ext cx="2540000" cy="1905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3208000" y="5029200"/>
            <a:ext cx="2540000" cy="50800"/>
          </a:xfrm>
          <a:prstGeom prst="roundRect">
            <a:avLst>
              <a:gd name="adj" fmla="val 0"/>
            </a:avLst>
          </a:prstGeom>
          <a:solidFill>
            <a:srgbClr val="F5656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3398500" y="3365500"/>
            <a:ext cx="2159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C8181"/>
                </a:solidFill>
                <a:latin typeface="Inter"/>
                <a:ea typeface="Inter"/>
                <a:cs typeface="Inter"/>
                <a:sym typeface="Inter"/>
              </a:rPr>
              <a:t>文档交接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Handoff 不标准、经验难沉淀，导致后续需求继续重复踩坑。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研发范式转型：从“人工主导执行”到“人类决策调度”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841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584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传统研发范式（含 AI 局部辅助）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398000" y="2540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398000" y="2540000"/>
            <a:ext cx="584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SDD + Agent Teams 体系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5842000" y="5835024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74151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7747000" y="2603500"/>
            <a:ext cx="762000" cy="635000"/>
          </a:xfrm>
          <a:prstGeom prst="ellipse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3182C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747000" y="2603500"/>
            <a:ext cx="762000" cy="635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3873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112000" y="3873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协作形态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683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70000" y="3683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单兵作战，依赖个人经验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98000" y="3683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652000" y="3683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Agent Teams 编排协同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5016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112000" y="5016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驱动机制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270000" y="4826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自然语言描述，边界模糊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0" y="4826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652000" y="4826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产品规约、技术规格、测试标准驱动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6159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112000" y="6159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执行主体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969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270000" y="5969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人主导实现，AI 局部辅助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98000" y="5969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652000" y="5969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Agent 承接关键任务，人做监督、决策和验收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7302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112000" y="7302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产能极限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16000" y="7112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270000" y="7112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单线程推进，瓶颈在个人精力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398000" y="7112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652000" y="7112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多 story、多阶段并行推进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00" y="-1270000"/>
            <a:ext cx="7620000" cy="762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335000" y="635000"/>
            <a:ext cx="3810000" cy="381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24000" y="3556000"/>
            <a:ext cx="13208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PART 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4445000"/>
            <a:ext cx="762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4826000"/>
            <a:ext cx="132080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目标体系：基于 SDD 的 AI 原生研发提效体系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SDD：用规格驱动 Agent，而不是用一句需求驱动代码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14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把“模糊需求”转化为 Agent 可以理解、可以执行、可以审查、可以验证的研发规格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4445000" cy="4826000"/>
          </a:xfrm>
          <a:prstGeom prst="roundRect">
            <a:avLst>
              <a:gd name="adj" fmla="val 1714"/>
            </a:avLst>
          </a:prstGeom>
          <a:solidFill>
            <a:srgbClr val="1F2937">
              <a:alpha val="4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4445000" cy="508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4445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阶段 1：需求到规格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36830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60500" y="3683000"/>
            <a:ext cx="76200" cy="889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714500" y="36830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1. 业务需求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262563">
            <a:off x="3079750" y="4723892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3B3ED">
                <a:alpha val="5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AutoShape 12"/>
          <p:cNvSpPr/>
          <p:nvPr/>
        </p:nvSpPr>
        <p:spPr>
          <a:xfrm>
            <a:off x="1460500" y="48895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460500" y="4889500"/>
            <a:ext cx="76200" cy="889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714500" y="48895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2. 产品规约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262563">
            <a:off x="3079750" y="5930392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3B3ED">
                <a:alpha val="5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AutoShape 16"/>
          <p:cNvSpPr/>
          <p:nvPr/>
        </p:nvSpPr>
        <p:spPr>
          <a:xfrm>
            <a:off x="1460500" y="60960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460500" y="6096000"/>
            <a:ext cx="76200" cy="889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714500" y="60960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3. 任务拆分与依赖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05500" y="2921000"/>
            <a:ext cx="4445000" cy="4826000"/>
          </a:xfrm>
          <a:prstGeom prst="roundRect">
            <a:avLst>
              <a:gd name="adj" fmla="val 1714"/>
            </a:avLst>
          </a:prstGeom>
          <a:solidFill>
            <a:srgbClr val="1F2937">
              <a:alpha val="4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905500" y="2921000"/>
            <a:ext cx="4445000" cy="50800"/>
          </a:xfrm>
          <a:prstGeom prst="roundRect">
            <a:avLst>
              <a:gd name="adj" fmla="val 0"/>
            </a:avLst>
          </a:prstGeom>
          <a:solidFill>
            <a:srgbClr val="9F7A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905500" y="3111500"/>
            <a:ext cx="4445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F7AEA"/>
                </a:solidFill>
                <a:latin typeface="Inter"/>
                <a:ea typeface="Inter"/>
                <a:cs typeface="Inter"/>
                <a:sym typeface="Inter"/>
              </a:rPr>
              <a:t>阶段 2：调度与实现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2799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279900"/>
            <a:ext cx="76200" cy="889000"/>
          </a:xfrm>
          <a:prstGeom prst="roundRect">
            <a:avLst>
              <a:gd name="adj" fmla="val 0"/>
            </a:avLst>
          </a:prstGeom>
          <a:solidFill>
            <a:srgbClr val="9F7A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42799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4. 技术 / OpenSpec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262563">
            <a:off x="7969250" y="5320792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F7AEA">
                <a:alpha val="5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" name="AutoShape 26"/>
          <p:cNvSpPr/>
          <p:nvPr/>
        </p:nvSpPr>
        <p:spPr>
          <a:xfrm>
            <a:off x="6350000" y="54864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350000" y="5486400"/>
            <a:ext cx="76200" cy="889000"/>
          </a:xfrm>
          <a:prstGeom prst="roundRect">
            <a:avLst>
              <a:gd name="adj" fmla="val 0"/>
            </a:avLst>
          </a:prstGeom>
          <a:solidFill>
            <a:srgbClr val="9F7A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04000" y="54864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5. 代码实现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795000" y="2921000"/>
            <a:ext cx="4445000" cy="4826000"/>
          </a:xfrm>
          <a:prstGeom prst="roundRect">
            <a:avLst>
              <a:gd name="adj" fmla="val 1714"/>
            </a:avLst>
          </a:prstGeom>
          <a:solidFill>
            <a:srgbClr val="1F2937">
              <a:alpha val="4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795000" y="2921000"/>
            <a:ext cx="4445000" cy="50800"/>
          </a:xfrm>
          <a:prstGeom prst="roundRect">
            <a:avLst>
              <a:gd name="adj" fmla="val 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795000" y="3111500"/>
            <a:ext cx="4445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0BB78"/>
                </a:solidFill>
                <a:latin typeface="Inter"/>
                <a:ea typeface="Inter"/>
                <a:cs typeface="Inter"/>
                <a:sym typeface="Inter"/>
              </a:rPr>
              <a:t>阶段 3：验证与闭环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239500" y="42799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1239500" y="4279900"/>
            <a:ext cx="76200" cy="889000"/>
          </a:xfrm>
          <a:prstGeom prst="roundRect">
            <a:avLst>
              <a:gd name="adj" fmla="val 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1493500" y="42799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6. 测试用例 / 报告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262563">
            <a:off x="12858750" y="5320792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0BB78">
                <a:alpha val="5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6" name="AutoShape 36"/>
          <p:cNvSpPr/>
          <p:nvPr/>
        </p:nvSpPr>
        <p:spPr>
          <a:xfrm>
            <a:off x="11239500" y="5486400"/>
            <a:ext cx="3556000" cy="889000"/>
          </a:xfrm>
          <a:prstGeom prst="roundRect">
            <a:avLst>
              <a:gd name="adj" fmla="val 5714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11239500" y="5486400"/>
            <a:ext cx="76200" cy="889000"/>
          </a:xfrm>
          <a:prstGeom prst="roundRect">
            <a:avLst>
              <a:gd name="adj" fmla="val 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11493500" y="5486400"/>
            <a:ext cx="3175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7. Handoff / 知识沉淀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5588000" y="5207000"/>
            <a:ext cx="190500" cy="317500"/>
          </a:xfrm>
          <a:prstGeom prst="rightArrow">
            <a:avLst/>
          </a:prstGeom>
          <a:solidFill>
            <a:srgbClr val="6B72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10477500" y="5207000"/>
            <a:ext cx="190500" cy="317500"/>
          </a:xfrm>
          <a:prstGeom prst="rightArrow">
            <a:avLst/>
          </a:prstGeom>
          <a:solidFill>
            <a:srgbClr val="6B72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 原生研发提效体系全景：规格驱动、多 Agent 协同、知识闭环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048000" y="17780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F6A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048000" y="1778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6AD5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048000" y="1778000"/>
            <a:ext cx="2540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人类产研团队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842000" y="1778000"/>
            <a:ext cx="7112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目标定义 / 业务判断 / 关键决策 / 验收监督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37500" y="2857500"/>
            <a:ext cx="381000" cy="317500"/>
          </a:xfrm>
          <a:prstGeom prst="downArrow">
            <a:avLst/>
          </a:prstGeom>
          <a:solidFill>
            <a:srgbClr val="6B72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048000" y="3238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63B3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048000" y="32385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63B3ED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48000" y="3238500"/>
            <a:ext cx="2540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SDD 规格层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0" y="3238500"/>
            <a:ext cx="7112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产品规约 / 技术规格 / 测试标准 / OpenSpec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937500" y="4318000"/>
            <a:ext cx="381000" cy="317500"/>
          </a:xfrm>
          <a:prstGeom prst="downArrow">
            <a:avLst/>
          </a:prstGeom>
          <a:solidFill>
            <a:srgbClr val="6B72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048000" y="4699000"/>
            <a:ext cx="10160000" cy="1270000"/>
          </a:xfrm>
          <a:prstGeom prst="roundRect">
            <a:avLst>
              <a:gd name="adj" fmla="val 6000"/>
            </a:avLst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30BB7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048000" y="4699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30BB7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048000" y="4699000"/>
            <a:ext cx="25400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0BB78"/>
                </a:solidFill>
                <a:latin typeface="Inter"/>
                <a:ea typeface="Inter"/>
                <a:cs typeface="Inter"/>
                <a:sym typeface="Inter"/>
              </a:rPr>
              <a:t>Agent Teams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30BB78"/>
                </a:solidFill>
                <a:latin typeface="Inter"/>
                <a:ea typeface="Inter"/>
                <a:cs typeface="Inter"/>
                <a:sym typeface="Inter"/>
              </a:rPr>
              <a:t>执行层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842000" y="4826000"/>
            <a:ext cx="7112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mainAgent / pmAgent / beAgent / feAgent / reviewAgent / testAgent / docSyncAgent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37500" y="6032500"/>
            <a:ext cx="381000" cy="317500"/>
          </a:xfrm>
          <a:prstGeom prst="downArrow">
            <a:avLst/>
          </a:prstGeom>
          <a:solidFill>
            <a:srgbClr val="6B72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048000" y="6413500"/>
            <a:ext cx="10160000" cy="1905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B794F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048000" y="64135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B794F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048000" y="6413500"/>
            <a:ext cx="2540000" cy="1905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平台基础设施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与知识闭环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842000" y="6667500"/>
            <a:ext cx="7112000" cy="1397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基础设施：</a:t>
            </a: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TCHub / MCP / Gerrit / Jira / Wiki / Figma / Kiro Desktop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资产闭环：</a:t>
            </a: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文档 / notes / memories / test cases / handoff / metrics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Agent Teams：把产品、调度、开发、测试、审查、文档角色编排进研发流程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394200" cy="2794000"/>
          </a:xfrm>
          <a:prstGeom prst="roundRect">
            <a:avLst>
              <a:gd name="adj" fmla="val 272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394200" cy="508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397000" y="2286000"/>
            <a:ext cx="3632200" cy="228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2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mainAgent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统一入口、任务拆解、调度中枢、架构咨询。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保证流程统一推进、技术方向不跑偏。</a:t>
            </a:r>
            <a:endParaRPr lang="en-US" sz="16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918200" y="2032000"/>
            <a:ext cx="4394200" cy="2794000"/>
          </a:xfrm>
          <a:prstGeom prst="roundRect">
            <a:avLst>
              <a:gd name="adj" fmla="val 272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918200" y="2032000"/>
            <a:ext cx="4394200" cy="508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99200" y="2286000"/>
            <a:ext cx="3632200" cy="228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2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pmAgent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需求澄清、产品规约、方案设计。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让需求更快结构化。</a:t>
            </a:r>
            <a:endParaRPr lang="en-US" sz="16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820400" y="2032000"/>
            <a:ext cx="4394200" cy="2794000"/>
          </a:xfrm>
          <a:prstGeom prst="roundRect">
            <a:avLst>
              <a:gd name="adj" fmla="val 272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820400" y="2032000"/>
            <a:ext cx="4394200" cy="50800"/>
          </a:xfrm>
          <a:prstGeom prst="roundRect">
            <a:avLst>
              <a:gd name="adj" fmla="val 0"/>
            </a:avLst>
          </a:prstGeom>
          <a:solidFill>
            <a:srgbClr val="68D3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201400" y="2286000"/>
            <a:ext cx="3632200" cy="228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2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be / fe 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技术设计、OpenSpec 产出、后端/前端实现和自测。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执行具体研发任务并产出可审查规格。</a:t>
            </a:r>
            <a:endParaRPr lang="en-US" sz="16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5334000"/>
            <a:ext cx="4394200" cy="2794000"/>
          </a:xfrm>
          <a:prstGeom prst="roundRect">
            <a:avLst>
              <a:gd name="adj" fmla="val 272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334000"/>
            <a:ext cx="4394200" cy="50800"/>
          </a:xfrm>
          <a:prstGeom prst="roundRect">
            <a:avLst>
              <a:gd name="adj" fmla="val 0"/>
            </a:avLst>
          </a:prstGeom>
          <a:solidFill>
            <a:srgbClr val="FC81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397000" y="5588000"/>
            <a:ext cx="3632200" cy="228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200" b="1" i="0" u="none" strike="noStrike">
                <a:solidFill>
                  <a:srgbClr val="FC8181"/>
                </a:solidFill>
                <a:latin typeface="Inter"/>
                <a:ea typeface="Inter"/>
                <a:cs typeface="Inter"/>
                <a:sym typeface="Inter"/>
              </a:rPr>
              <a:t>reviewAgent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设计审查、代码审查、质量门禁。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把问题前置，降低返工成本。</a:t>
            </a:r>
            <a:endParaRPr lang="en-US" sz="16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918200" y="5334000"/>
            <a:ext cx="4394200" cy="2794000"/>
          </a:xfrm>
          <a:prstGeom prst="roundRect">
            <a:avLst>
              <a:gd name="adj" fmla="val 272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918200" y="5334000"/>
            <a:ext cx="4394200" cy="50800"/>
          </a:xfrm>
          <a:prstGeom prst="roundRect">
            <a:avLst>
              <a:gd name="adj" fmla="val 0"/>
            </a:avLst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99200" y="5588000"/>
            <a:ext cx="3632200" cy="228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2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testAgent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测试策略、用例、自动化验证。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建立可靠的测试验证闭环。</a:t>
            </a:r>
            <a:endParaRPr lang="en-US" sz="16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820400" y="5334000"/>
            <a:ext cx="4394200" cy="2794000"/>
          </a:xfrm>
          <a:prstGeom prst="roundRect">
            <a:avLst>
              <a:gd name="adj" fmla="val 272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820400" y="5334000"/>
            <a:ext cx="4394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201400" y="5588000"/>
            <a:ext cx="3632200" cy="228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200" b="1" i="0" u="none" strike="noStrike">
                <a:solidFill>
                  <a:srgbClr val="4FD1C5"/>
                </a:solidFill>
                <a:latin typeface="Inter"/>
                <a:ea typeface="Inter"/>
                <a:cs typeface="Inter"/>
                <a:sym typeface="Inter"/>
              </a:rPr>
              <a:t>docSyncAgent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文档同步、偏差检查、handoff。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保证知识与代码同步且可信、可追踪。</a:t>
            </a:r>
            <a:endParaRPr lang="en-US" sz="1600" b="1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422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体系不是单个 Agent，而是一组可治理的平台基础设施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910950" y="2447479"/>
            <a:ext cx="3048000" cy="2794000"/>
          </a:xfrm>
          <a:prstGeom prst="hexagon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3182C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164950" y="3082479"/>
            <a:ext cx="2540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TCHub 知识中枢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承接项目与需求上下文，解决知识断裂。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85950" y="2447479"/>
            <a:ext cx="3048000" cy="2794000"/>
          </a:xfrm>
          <a:prstGeom prst="hexagon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30BB7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39950" y="3082479"/>
            <a:ext cx="2540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OpenSpec 系统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管理规约和技术规格，保证需求到实现可追踪。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260950" y="2447479"/>
            <a:ext cx="3048000" cy="2794000"/>
          </a:xfrm>
          <a:prstGeom prst="hexagon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F6AD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14950" y="3082479"/>
            <a:ext cx="2540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D38D"/>
                </a:solidFill>
                <a:latin typeface="Inter"/>
                <a:ea typeface="Inter"/>
                <a:cs typeface="Inter"/>
                <a:sym typeface="Inter"/>
              </a:rPr>
              <a:t>MCP 工具连接器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让 Agent 接入 Gerrit, Jira, Wiki 等真实工具链。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98450" y="5304979"/>
            <a:ext cx="3048000" cy="2794000"/>
          </a:xfrm>
          <a:prstGeom prst="hexagon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9F7AE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752450" y="5939979"/>
            <a:ext cx="2540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Skill Hub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个人经验与最佳实践沉淀为团队可复用能力。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73450" y="5304979"/>
            <a:ext cx="3048000" cy="2794000"/>
          </a:xfrm>
          <a:prstGeom prst="hexagon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FC818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927450" y="5939979"/>
            <a:ext cx="2540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C8181"/>
                </a:solidFill>
                <a:latin typeface="Inter"/>
                <a:ea typeface="Inter"/>
                <a:cs typeface="Inter"/>
                <a:sym typeface="Inter"/>
              </a:rPr>
              <a:t>Kiro 工作台与协作规范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将 Agent 黑盒执行转换为可见、可追踪、可治理的流水线。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基础设施运行证据：TCHub 已承接真实研发过程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394200" cy="5080000"/>
          </a:xfrm>
          <a:prstGeom prst="roundRect">
            <a:avLst>
              <a:gd name="adj" fmla="val 2312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394200" cy="508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413000"/>
            <a:ext cx="3886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覆盖规模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302000"/>
            <a:ext cx="388620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0000" lnSpcReduction="2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150+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Active 用户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>
              <a:lnSpc>
                <a:spcPct val="100000"/>
              </a:lnSpc>
              <a:spcBef>
                <a:spcPts val="3000"/>
              </a:spcBef>
            </a:pPr>
            <a:r>
              <a:rPr lang="en-US" sz="56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63</a:t>
            </a:r>
            <a:endParaRPr lang="en-US" sz="5600" b="1" i="0" u="none" strike="noStrike">
              <a:solidFill>
                <a:srgbClr val="E2E8F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个 MCP 调用用户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70000" y="6350000"/>
            <a:ext cx="3886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用户已经进入系统，Agent 工作流也在使用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18200" y="2032000"/>
            <a:ext cx="4394200" cy="5080000"/>
          </a:xfrm>
          <a:prstGeom prst="roundRect">
            <a:avLst>
              <a:gd name="adj" fmla="val 2312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918200" y="2032000"/>
            <a:ext cx="4394200" cy="50800"/>
          </a:xfrm>
          <a:prstGeom prst="roundRect">
            <a:avLst>
              <a:gd name="adj" fmla="val 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72200" y="2413000"/>
            <a:ext cx="3886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0BB78"/>
                </a:solidFill>
                <a:latin typeface="Inter"/>
                <a:ea typeface="Inter"/>
                <a:cs typeface="Inter"/>
                <a:sym typeface="Inter"/>
              </a:rPr>
              <a:t>研发承载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72200" y="3302000"/>
            <a:ext cx="388620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0000" lnSpcReduction="2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300+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Workstreams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>
              <a:lnSpc>
                <a:spcPct val="100000"/>
              </a:lnSpc>
              <a:spcBef>
                <a:spcPts val="3000"/>
              </a:spcBef>
            </a:pPr>
            <a:r>
              <a:rPr lang="en-US" sz="56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多层级</a:t>
            </a:r>
            <a:endParaRPr lang="en-US" sz="5600" b="1" i="0" u="none" strike="noStrike">
              <a:solidFill>
                <a:srgbClr val="E2E8F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Project &amp; Feature 结构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72200" y="6350000"/>
            <a:ext cx="3886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TCHub 已承接真实研发对象和任务流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820400" y="2032000"/>
            <a:ext cx="4394200" cy="5080000"/>
          </a:xfrm>
          <a:prstGeom prst="roundRect">
            <a:avLst>
              <a:gd name="adj" fmla="val 2312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820400" y="2032000"/>
            <a:ext cx="4394200" cy="508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074400" y="2413000"/>
            <a:ext cx="3886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资产沉淀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074400" y="3302000"/>
            <a:ext cx="388620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0000" lnSpcReduction="2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1125+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研发文档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>
              <a:lnSpc>
                <a:spcPct val="100000"/>
              </a:lnSpc>
              <a:spcBef>
                <a:spcPts val="1600"/>
              </a:spcBef>
            </a:pPr>
            <a:r>
              <a:rPr lang="en-US" sz="42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501</a:t>
            </a:r>
            <a:endParaRPr lang="en-US" sz="4200" b="1" i="0" u="none" strike="noStrike">
              <a:solidFill>
                <a:srgbClr val="E2E8F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测试用例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>
              <a:lnSpc>
                <a:spcPct val="100000"/>
              </a:lnSpc>
              <a:spcBef>
                <a:spcPts val="1600"/>
              </a:spcBef>
            </a:pPr>
            <a:r>
              <a:rPr lang="en-US" sz="36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41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Skills</a:t>
            </a:r>
            <a:r>
              <a:rPr lang="en-US" sz="3600" b="1" i="0" u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 · 9112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MCP 调用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1074400" y="6350000"/>
            <a:ext cx="3886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文档、测试、Skill 和工具调用形成闭环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7620000"/>
            <a:ext cx="14224000" cy="1016000"/>
          </a:xfrm>
          <a:prstGeom prst="roundRect">
            <a:avLst>
              <a:gd name="adj" fmla="val 5000"/>
            </a:avLst>
          </a:prstGeom>
          <a:solidFill>
            <a:srgbClr val="3182C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270000" y="7874000"/>
            <a:ext cx="13716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TCHub 已经承接用户、需求、文档、测试资产、Skills 和 Agent 调用，说明 SDD + Agent Teams 具备真实运行基础。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（交付效率改善将在 Part 3 中通过 completed workstream 数据单独展开）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Agent 能力飞轮：从“能执行任务”到“懂公司代码和业务”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当真实 workstream、文档、测试用例、Skills 和 MCP 调用持续沉淀后，Agent 能力就不再依赖一次性提示词，而会进入持续增强的飞轮。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990460" y="4736904"/>
            <a:ext cx="1365630" cy="1348622"/>
          </a:xfrm>
          <a:prstGeom prst="ellipse">
            <a:avLst/>
          </a:prstGeom>
          <a:solidFill>
            <a:srgbClr val="1F2937">
              <a:alpha val="100000"/>
            </a:srgbClr>
          </a:solidFill>
          <a:ln w="25400" cap="flat" cmpd="sng">
            <a:solidFill>
              <a:srgbClr val="3182C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04263" y="4849289"/>
            <a:ext cx="1138025" cy="112385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 飞轮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闭环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7673275" y="2691493"/>
            <a:ext cx="2625423" cy="2499447"/>
          </a:xfrm>
          <a:custGeom>
            <a:avLst/>
            <a:gdLst/>
            <a:ahLst/>
            <a:cxnLst/>
            <a:rect l="l" t="t" r="r" b="b"/>
            <a:pathLst>
              <a:path w="2625423" h="2499447">
                <a:moveTo>
                  <a:pt x="0" y="0"/>
                </a:moveTo>
                <a:cubicBezTo>
                  <a:pt x="1194926" y="0"/>
                  <a:pt x="2256704" y="759724"/>
                  <a:pt x="2625424" y="1884700"/>
                </a:cubicBezTo>
                <a:lnTo>
                  <a:pt x="2190698" y="2499447"/>
                </a:lnTo>
                <a:lnTo>
                  <a:pt x="1563646" y="2225227"/>
                </a:lnTo>
                <a:cubicBezTo>
                  <a:pt x="1344008" y="1555411"/>
                  <a:pt x="712404" y="1102499"/>
                  <a:pt x="0" y="1102499"/>
                </a:cubicBezTo>
                <a:lnTo>
                  <a:pt x="458624" y="599013"/>
                </a:lnTo>
                <a:close/>
              </a:path>
            </a:pathLst>
          </a:custGeom>
          <a:solidFill>
            <a:srgbClr val="3182C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62397" y="2489200"/>
            <a:ext cx="2344331" cy="69678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1. 真实需求执行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暴露业务与约束问题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572315" y="4579565"/>
            <a:ext cx="2093966" cy="3049010"/>
          </a:xfrm>
          <a:custGeom>
            <a:avLst/>
            <a:gdLst/>
            <a:ahLst/>
            <a:cxnLst/>
            <a:rect l="l" t="t" r="r" b="b"/>
            <a:pathLst>
              <a:path w="2093966" h="3049010">
                <a:moveTo>
                  <a:pt x="1725246" y="0"/>
                </a:moveTo>
                <a:cubicBezTo>
                  <a:pt x="2093966" y="1123852"/>
                  <a:pt x="1694519" y="2346602"/>
                  <a:pt x="724922" y="3049010"/>
                </a:cubicBezTo>
                <a:lnTo>
                  <a:pt x="0" y="2829859"/>
                </a:lnTo>
                <a:lnTo>
                  <a:pt x="70557" y="2156671"/>
                </a:lnTo>
                <a:cubicBezTo>
                  <a:pt x="645260" y="1743094"/>
                  <a:pt x="888797" y="1006971"/>
                  <a:pt x="665744" y="340527"/>
                </a:cubicBezTo>
                <a:lnTo>
                  <a:pt x="1291658" y="614747"/>
                </a:lnTo>
                <a:close/>
              </a:path>
            </a:pathLst>
          </a:custGeom>
          <a:solidFill>
            <a:srgbClr val="9F7AE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34562" y="6051811"/>
            <a:ext cx="2344331" cy="69678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2. 沉淀治理规则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梳理 Checklist 和代码规范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45900" y="6737360"/>
            <a:ext cx="3254751" cy="1583507"/>
          </a:xfrm>
          <a:custGeom>
            <a:avLst/>
            <a:gdLst/>
            <a:ahLst/>
            <a:cxnLst/>
            <a:rect l="l" t="t" r="r" b="b"/>
            <a:pathLst>
              <a:path w="3254751" h="1583507">
                <a:moveTo>
                  <a:pt x="3254751" y="887843"/>
                </a:moveTo>
                <a:cubicBezTo>
                  <a:pt x="2288568" y="1579012"/>
                  <a:pt x="977563" y="1583508"/>
                  <a:pt x="14794" y="887843"/>
                </a:cubicBezTo>
                <a:lnTo>
                  <a:pt x="0" y="141606"/>
                </a:lnTo>
                <a:lnTo>
                  <a:pt x="668020" y="0"/>
                </a:lnTo>
                <a:cubicBezTo>
                  <a:pt x="1244999" y="411330"/>
                  <a:pt x="2016580" y="412454"/>
                  <a:pt x="2599249" y="0"/>
                </a:cubicBezTo>
                <a:lnTo>
                  <a:pt x="2528691" y="669816"/>
                </a:lnTo>
                <a:close/>
              </a:path>
            </a:pathLst>
          </a:custGeom>
          <a:solidFill>
            <a:srgbClr val="F56565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01110" y="8254560"/>
            <a:ext cx="2344331" cy="69678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3. 补充专业 Skills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工具与上下文封装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680270" y="4332317"/>
            <a:ext cx="2026822" cy="3294010"/>
          </a:xfrm>
          <a:custGeom>
            <a:avLst/>
            <a:gdLst/>
            <a:ahLst/>
            <a:cxnLst/>
            <a:rect l="l" t="t" r="r" b="b"/>
            <a:pathLst>
              <a:path w="2026822" h="3294010">
                <a:moveTo>
                  <a:pt x="1372458" y="3294010"/>
                </a:moveTo>
                <a:cubicBezTo>
                  <a:pt x="405137" y="2599470"/>
                  <a:pt x="0" y="1368852"/>
                  <a:pt x="369858" y="245000"/>
                </a:cubicBezTo>
                <a:lnTo>
                  <a:pt x="1087952" y="0"/>
                </a:lnTo>
                <a:lnTo>
                  <a:pt x="1429359" y="585527"/>
                </a:lnTo>
                <a:cubicBezTo>
                  <a:pt x="1210858" y="1254219"/>
                  <a:pt x="1453258" y="1986970"/>
                  <a:pt x="2026822" y="2401672"/>
                </a:cubicBezTo>
                <a:lnTo>
                  <a:pt x="1357664" y="2544401"/>
                </a:lnTo>
                <a:close/>
              </a:path>
            </a:pathLst>
          </a:custGeom>
          <a:solidFill>
            <a:srgbClr val="F6AD55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256277" y="6051811"/>
            <a:ext cx="2344331" cy="69678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4. 团队级复用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经由 Skill Hub 流转利用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5044438" y="2691493"/>
            <a:ext cx="3084047" cy="2219608"/>
          </a:xfrm>
          <a:custGeom>
            <a:avLst/>
            <a:gdLst/>
            <a:ahLst/>
            <a:cxnLst/>
            <a:rect l="l" t="t" r="r" b="b"/>
            <a:pathLst>
              <a:path w="3084047" h="2219608">
                <a:moveTo>
                  <a:pt x="0" y="1880205"/>
                </a:moveTo>
                <a:cubicBezTo>
                  <a:pt x="369858" y="758600"/>
                  <a:pt x="1427083" y="0"/>
                  <a:pt x="2625423" y="0"/>
                </a:cubicBezTo>
                <a:lnTo>
                  <a:pt x="3084047" y="597890"/>
                </a:lnTo>
                <a:lnTo>
                  <a:pt x="2625423" y="1100251"/>
                </a:lnTo>
                <a:cubicBezTo>
                  <a:pt x="1913020" y="1100251"/>
                  <a:pt x="1279140" y="1554288"/>
                  <a:pt x="1061777" y="2219608"/>
                </a:cubicBezTo>
                <a:lnTo>
                  <a:pt x="718094" y="1635205"/>
                </a:lnTo>
                <a:close/>
              </a:path>
            </a:pathLst>
          </a:custGeom>
          <a:solidFill>
            <a:srgbClr val="48BB7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439823" y="2489200"/>
            <a:ext cx="2344331" cy="69678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5. Agent 更懂业务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减少人工干预与介入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体系落地对人的要求：从单点执行者升级为 AI 原生研发 Owner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24000" y="2159000"/>
            <a:ext cx="6096000" cy="5842000"/>
          </a:xfrm>
          <a:prstGeom prst="roundRect">
            <a:avLst>
              <a:gd name="adj" fmla="val 1304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2159000"/>
            <a:ext cx="6096000" cy="762000"/>
          </a:xfrm>
          <a:prstGeom prst="roundRect">
            <a:avLst>
              <a:gd name="adj" fmla="val 1000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2159000"/>
            <a:ext cx="6096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过去的角色能力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3175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159000" y="3048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只负责自己模块的实现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7813">
            <a:off x="1777372" y="3676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778000" y="4064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159000" y="3937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等产品 / 架构 / 测试给明确输入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7813">
            <a:off x="1777372" y="4565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778000" y="4953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159000" y="4826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主要产出代码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7813">
            <a:off x="1777372" y="5454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778000" y="5842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2159000" y="5715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依赖人工沟通推动协作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7813">
            <a:off x="1777372" y="6343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778000" y="6731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2159000" y="6604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专注局部技术细节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636000" y="2159000"/>
            <a:ext cx="6096000" cy="5842000"/>
          </a:xfrm>
          <a:prstGeom prst="roundRect">
            <a:avLst>
              <a:gd name="adj" fmla="val 1304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636000" y="2159000"/>
            <a:ext cx="6096000" cy="762000"/>
          </a:xfrm>
          <a:prstGeom prst="roundRect">
            <a:avLst>
              <a:gd name="adj" fmla="val 1000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636000" y="2159000"/>
            <a:ext cx="6096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原生体系下的能力要求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0" y="3175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271000" y="3048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8D391"/>
                </a:solidFill>
                <a:latin typeface="Roboto"/>
                <a:ea typeface="Roboto"/>
                <a:cs typeface="Roboto"/>
                <a:sym typeface="Roboto"/>
              </a:rPr>
              <a:t>理解需求、设计、开发、测试、交接全链路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7813">
            <a:off x="8889372" y="3676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890000" y="4064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271000" y="3937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8D391"/>
                </a:solidFill>
                <a:latin typeface="Roboto"/>
                <a:ea typeface="Roboto"/>
                <a:cs typeface="Roboto"/>
                <a:sym typeface="Roboto"/>
              </a:rPr>
              <a:t>能主动澄清需求、定义边界、拆解任务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7813">
            <a:off x="8889372" y="4565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890000" y="4953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271000" y="4826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8D391"/>
                </a:solidFill>
                <a:latin typeface="Roboto"/>
                <a:ea typeface="Roboto"/>
                <a:cs typeface="Roboto"/>
                <a:sym typeface="Roboto"/>
              </a:rPr>
              <a:t>能产出规格、验收标准、测试策略和决策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7813">
            <a:off x="8889372" y="5454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890000" y="5842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271000" y="5715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8D391"/>
                </a:solidFill>
                <a:latin typeface="Roboto"/>
                <a:ea typeface="Roboto"/>
                <a:cs typeface="Roboto"/>
                <a:sym typeface="Roboto"/>
              </a:rPr>
              <a:t>能调度 Agent Teams，审查 Agent 结果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7813">
            <a:off x="8889372" y="6343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8890000" y="6731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271000" y="6604000"/>
            <a:ext cx="508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8D391"/>
                </a:solidFill>
                <a:latin typeface="Roboto"/>
                <a:ea typeface="Roboto"/>
                <a:cs typeface="Roboto"/>
                <a:sym typeface="Roboto"/>
              </a:rPr>
              <a:t>具备业务理解、工程判断与平台思维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00" y="-1270000"/>
            <a:ext cx="7620000" cy="762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335000" y="635000"/>
            <a:ext cx="3810000" cy="381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24000" y="3556000"/>
            <a:ext cx="13208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PART 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4445000"/>
            <a:ext cx="762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4826000"/>
            <a:ext cx="13208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这套体系如何带来提效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5969000"/>
            <a:ext cx="101600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Part 3 先讲五个提效机制：需求结构化、规格驱动执行、并行推进、质量前置、知识复用；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再用 TCHub completed workstream 数据验证交付节奏；最后沉淀为持续指标看板。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需求结构化：从反复沟通，变成 Agent 辅助生成产品规约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14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584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过去的沟通成本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398000" y="2286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398000" y="2286000"/>
            <a:ext cx="584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SDD 新流程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5842000" y="5581024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74151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7112000" y="3619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112000" y="3619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需求背景获取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70000" y="3429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散落在 Jira、Wiki、聊天和个人经验中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0" y="3429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652000" y="3429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TCHub 自动聚合背景、历史文档和决策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4762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112000" y="4762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对齐与共识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572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270000" y="4572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产、研、测多轮人工拉会沟通形成共识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98000" y="4572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652000" y="4572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pmAgent 辅助澄清问题，直接生成产品规约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5905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112000" y="5905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任务边界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715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270000" y="5715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研发人工拆任务，边界划分极度依赖个人经验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398000" y="5715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52000" y="5715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Agent 组合基于规约做任务拆分和技术设计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12000" y="7048500"/>
            <a:ext cx="2032000" cy="381000"/>
          </a:xfrm>
          <a:prstGeom prst="roundRect">
            <a:avLst>
              <a:gd name="adj" fmla="val 4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112000" y="7048500"/>
            <a:ext cx="2032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细节敲定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6858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270000" y="6858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在开发中不断遇到盲区，边写代码边补细节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98000" y="6858000"/>
            <a:ext cx="5842000" cy="762000"/>
          </a:xfrm>
          <a:prstGeom prst="roundRect">
            <a:avLst>
              <a:gd name="adj" fmla="val 6666"/>
            </a:avLst>
          </a:prstGeom>
          <a:solidFill>
            <a:srgbClr val="3182CE">
              <a:alpha val="15000"/>
            </a:srgbClr>
          </a:solidFill>
          <a:ln w="12700" cap="flat" cmpd="sng">
            <a:solidFill>
              <a:srgbClr val="3182C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652000" y="6858000"/>
            <a:ext cx="533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3B3ED"/>
                </a:solidFill>
                <a:latin typeface="Roboto"/>
                <a:ea typeface="Roboto"/>
                <a:cs typeface="Roboto"/>
                <a:sym typeface="Roboto"/>
              </a:rPr>
              <a:t>先形成可审查、可追踪的规格，再进入实现阶段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开发执行：从“按口头理解写代码”变成“按规格推进任务”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规格驱动让 Agent 的执行边界更清晰，让人类可以在关键节点进行审查和纠偏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1405">
            <a:off x="-635000" y="5200023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B556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727200" y="2489200"/>
            <a:ext cx="355600" cy="355600"/>
          </a:xfrm>
          <a:prstGeom prst="ellipse">
            <a:avLst/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27200" y="2489200"/>
            <a:ext cx="355600" cy="3556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540000" y="2286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540000" y="2286000"/>
            <a:ext cx="50800" cy="762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794000" y="2286000"/>
            <a:ext cx="3175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产品规约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0" y="2286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结构化定义需求边界、核心逻辑与前置验收标准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27200" y="3505200"/>
            <a:ext cx="355600" cy="355600"/>
          </a:xfrm>
          <a:prstGeom prst="ellipse">
            <a:avLst/>
          </a:prstGeom>
          <a:solidFill>
            <a:srgbClr val="68D39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727200" y="3505200"/>
            <a:ext cx="355600" cy="3556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540000" y="3302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540000" y="3302000"/>
            <a:ext cx="50800" cy="762000"/>
          </a:xfrm>
          <a:prstGeom prst="roundRect">
            <a:avLst>
              <a:gd name="adj" fmla="val 0"/>
            </a:avLst>
          </a:prstGeom>
          <a:solidFill>
            <a:srgbClr val="68D3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2794000" y="3302000"/>
            <a:ext cx="3175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任务拆分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3302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将需求拆解为 Agent 或人类可独立执行的子任务流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27200" y="4521200"/>
            <a:ext cx="355600" cy="355600"/>
          </a:xfrm>
          <a:prstGeom prst="ellipse">
            <a:avLst/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727200" y="4521200"/>
            <a:ext cx="355600" cy="3556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540000" y="4318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2540000" y="4318000"/>
            <a:ext cx="50800" cy="7620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2794000" y="4318000"/>
            <a:ext cx="3175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技术规格与架构约束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096000" y="4318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明确技术实现路径、接口设计边界与系统约束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727200" y="5537200"/>
            <a:ext cx="355600" cy="355600"/>
          </a:xfrm>
          <a:prstGeom prst="ellipse">
            <a:avLst/>
          </a:prstGeom>
          <a:solidFill>
            <a:srgbClr val="FC81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727200" y="5537200"/>
            <a:ext cx="355600" cy="3556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540000" y="5334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2540000" y="5334000"/>
            <a:ext cx="50800" cy="762000"/>
          </a:xfrm>
          <a:prstGeom prst="roundRect">
            <a:avLst>
              <a:gd name="adj" fmla="val 0"/>
            </a:avLst>
          </a:prstGeom>
          <a:solidFill>
            <a:srgbClr val="FC81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2794000" y="5334000"/>
            <a:ext cx="3175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C8181"/>
                </a:solidFill>
                <a:latin typeface="Inter"/>
                <a:ea typeface="Inter"/>
                <a:cs typeface="Inter"/>
                <a:sym typeface="Inter"/>
              </a:rPr>
              <a:t>Agent 并行实现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096000" y="5334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多智能体遵循设定好的规格协同完成代码编写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727200" y="6553200"/>
            <a:ext cx="355600" cy="355600"/>
          </a:xfrm>
          <a:prstGeom prst="ellipse">
            <a:avLst/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727200" y="6553200"/>
            <a:ext cx="355600" cy="3556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2540000" y="6350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2540000" y="6350000"/>
            <a:ext cx="50800" cy="762000"/>
          </a:xfrm>
          <a:prstGeom prst="roundRect">
            <a:avLst>
              <a:gd name="adj" fmla="val 0"/>
            </a:avLst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2794000" y="6350000"/>
            <a:ext cx="3175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reviewAgent 审查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096000" y="6350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前置代码质量检查、安全漏洞扫描与规范校验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727200" y="7569200"/>
            <a:ext cx="355600" cy="3556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1727200" y="7569200"/>
            <a:ext cx="355600" cy="3556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2540000" y="7366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2540000" y="7366000"/>
            <a:ext cx="50800" cy="762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2794000" y="7366000"/>
            <a:ext cx="3175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Inter"/>
                <a:ea typeface="Inter"/>
                <a:cs typeface="Inter"/>
                <a:sym typeface="Inter"/>
              </a:rPr>
              <a:t>testAgent 验证与同步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096000" y="7366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基于初始用例完成自动化验证并同步归档资产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925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并行协同：多个 story 可以处在不同阶段，同时由 Agent Teams 推进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体系化提效的关键，是让多需求、多阶段并行吞吐，而不是只加速单个开发者的编码动作。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175000" y="2540000"/>
            <a:ext cx="2794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产品规约 &amp; 架构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31000" y="2540000"/>
            <a:ext cx="2794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开发实现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287000" y="2540000"/>
            <a:ext cx="2794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测试验证 &amp; Handoff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9889">
            <a:off x="4064000" y="5200024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5389889">
            <a:off x="7620000" y="5200024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556000"/>
            <a:ext cx="190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Story A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21000" y="3429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63B3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921000" y="3429000"/>
            <a:ext cx="76200" cy="762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175000" y="3429000"/>
            <a:ext cx="279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产品规约完成，进入技术设计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953000"/>
            <a:ext cx="190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Story B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21000" y="4826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68D39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4826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68D39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4826000"/>
            <a:ext cx="76200" cy="762000"/>
          </a:xfrm>
          <a:prstGeom prst="roundRect">
            <a:avLst>
              <a:gd name="adj" fmla="val 0"/>
            </a:avLst>
          </a:prstGeom>
          <a:solidFill>
            <a:srgbClr val="68D3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31000" y="4826000"/>
            <a:ext cx="279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技术规格完成，进入开发实现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6350000"/>
            <a:ext cx="190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Story C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921000" y="6223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F6AD5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6223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F6AD5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033000" y="6223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F6A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033000" y="6223000"/>
            <a:ext cx="76200" cy="7620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287000" y="6223000"/>
            <a:ext cx="2794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代码完成，进入测试与归档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质量前置：review 已进入流程，测试闭环正在快速完善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• 设计完成后，reviewAgent 自动进行设计审查。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• 代码完成后，reviewAgent 自动进行代码审查。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• 发现问题自动回到 Builder 修复复审，docSyncAgent 同步检查一致性。</a:t>
            </a:r>
            <a:endParaRPr lang="en-US" sz="18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3175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测试能力当前状态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3810000"/>
          <a:ext cx="14224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3302000"/>
                <a:gridCol w="7112000"/>
              </a:tblGrid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测试能力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当前状态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下一步重点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看板用例生成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68D39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稳定可用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A0AE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持续审视用例覆盖度和需求映射关系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18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接口自动化测试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6AD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初步可用，正在真实需求中验证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A0AE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补充断言稳定性和失败诊断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>
                        <a:alpha val="5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接口场景化测试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6AD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已形成雏形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A0AE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与 PRD 验收标准、业务流程联动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UI 端到端测试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6AD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推进中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A0AE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提升选择器稳定性、等待策略和失败定位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>
                        <a:alpha val="5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测试报告回写 TCHub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63B3E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模板已具备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A0AE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增强失败原因归档和复盘沉淀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7747000"/>
            <a:ext cx="14224000" cy="889000"/>
          </a:xfrm>
          <a:prstGeom prst="roundRect">
            <a:avLst>
              <a:gd name="adj" fmla="val 8571"/>
            </a:avLst>
          </a:prstGeom>
          <a:solidFill>
            <a:srgbClr val="1F2937">
              <a:alpha val="80000"/>
            </a:srgbClr>
          </a:solidFill>
          <a:ln w="12700" cap="flat" cmpd="sng">
            <a:solidFill>
              <a:srgbClr val="3182C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7747000"/>
            <a:ext cx="13716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review 闭环已经进入流程，测试链路已形成初步雏形；下一阶段重点是通过更多真实需求验证接口测试、场景化测试和 UI E2E 的稳定性。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知识闭环：每个需求都沉淀为下一次研发的上下文资产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AI 原生研发体系的长期价值，是让每次交付都反哺知识库，后续需求越做越快、越做越稳。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68580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3048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3048000"/>
            <a:ext cx="533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标准研发文档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8100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包括产品规约、技术规格、API 文档、测试用例与测试报告。形成需求交付的硬性快照。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2794000"/>
            <a:ext cx="68580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382000" y="2794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0" y="3048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525000" y="3048000"/>
            <a:ext cx="533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过程流转痕迹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763000" y="38100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保留技术决策、关键阻塞原因、状态更新、Agent 运行 Log 以及最终的 Handoff 记录。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588000"/>
            <a:ext cx="68580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58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000" y="5842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159000" y="5842000"/>
            <a:ext cx="533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D38D"/>
                </a:solidFill>
                <a:latin typeface="Inter"/>
                <a:ea typeface="Inter"/>
                <a:cs typeface="Inter"/>
                <a:sym typeface="Inter"/>
              </a:rPr>
              <a:t>经验与偏好记忆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397000" y="66040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沉淀踩坑教训、团队偏好、Agent 规则候选及供未来复用的长期记忆点。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5588000"/>
            <a:ext cx="68580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82000" y="558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9F7A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3000" y="5842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5842000"/>
            <a:ext cx="533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上下文召回包裹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63000" y="66040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自动将上述资产打包为 Agent Context Pack，供下一次相近研发需求一键自动召回。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真实数据验证：交付节奏已经出现可观察改善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5080000" cy="5842000"/>
          </a:xfrm>
          <a:prstGeom prst="roundRect">
            <a:avLst>
              <a:gd name="adj" fmla="val 2000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182C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2794000"/>
            <a:ext cx="4572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基于 96 个已完结流程统计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3683000"/>
            <a:ext cx="4572000" cy="1524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7400" b="1" i="0" u="none" strike="noStrike">
                <a:solidFill>
                  <a:srgbClr val="63B3ED"/>
                </a:solidFill>
                <a:latin typeface="Space Grotesk"/>
                <a:ea typeface="Space Grotesk"/>
                <a:cs typeface="Space Grotesk"/>
                <a:sym typeface="Space Grotesk"/>
              </a:rPr>
              <a:t>8.2 </a:t>
            </a:r>
            <a:r>
              <a:rPr lang="en-US" sz="3100" b="0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天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典型全生命周期中位耗时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05000" y="5588000"/>
            <a:ext cx="3302000" cy="127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6096000"/>
            <a:ext cx="45720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4400" b="1" i="0" u="none" strike="noStrike">
                <a:solidFill>
                  <a:srgbClr val="30BB78"/>
                </a:solidFill>
                <a:latin typeface="Space Grotesk"/>
                <a:ea typeface="Space Grotesk"/>
                <a:cs typeface="Space Grotesk"/>
                <a:sym typeface="Space Grotesk"/>
              </a:rPr>
              <a:t>71%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的需求在 2 周内实现闭环</a:t>
            </a:r>
            <a:endParaRPr lang="en-US" sz="15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（其中 50% 在 1 周内完成）</a:t>
            </a:r>
            <a:endParaRPr lang="en-US" sz="13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2286000"/>
            <a:ext cx="8636000" cy="1270000"/>
          </a:xfrm>
          <a:prstGeom prst="roundRect">
            <a:avLst>
              <a:gd name="adj" fmla="val 6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04000" y="2286000"/>
            <a:ext cx="76200" cy="1270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985000" y="2476500"/>
            <a:ext cx="7874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9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整体趋势向好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4 月下半月相比上半月，同口径中位耗时从 11.21 天下降至 3.88 天，体现交付节奏改善。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4129796"/>
            <a:ext cx="8636000" cy="1270000"/>
          </a:xfrm>
          <a:prstGeom prst="roundRect">
            <a:avLst>
              <a:gd name="adj" fmla="val 6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4129796"/>
            <a:ext cx="76200" cy="12700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985000" y="4320296"/>
            <a:ext cx="7874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20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AI 团队主阵地效能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AI 智能开发责任团队中位 3.4 天；Tchub演进完善 项目甚至达到中位 2.3 天全闭环。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6032500"/>
            <a:ext cx="8636000" cy="1270000"/>
          </a:xfrm>
          <a:prstGeom prst="roundRect">
            <a:avLst>
              <a:gd name="adj" fmla="val 6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6032500"/>
            <a:ext cx="76200" cy="1270000"/>
          </a:xfrm>
          <a:prstGeom prst="roundRect">
            <a:avLst>
              <a:gd name="adj" fmla="val 0"/>
            </a:avLst>
          </a:prstGeom>
          <a:solidFill>
            <a:srgbClr val="9F7A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985000" y="6223000"/>
            <a:ext cx="7874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20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业务线规模化表现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ServiceCloud 服务云已完成 23 个闭环，中位耗时 6.8 天，说明流程已在外部团队跑通。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7620000"/>
            <a:ext cx="863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当前数据为基于 TCHub 生产记录的初步度量，虽暂非严格的传统流程对照实验，但已观察到交付节奏改善。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提效指标：同时看流程效率、质量稳定性和知识复用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后续进一步用数据证明流程更快、质量更稳、知识可复用。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14224000" cy="1524000"/>
          </a:xfrm>
          <a:prstGeom prst="roundRect">
            <a:avLst>
              <a:gd name="adj" fmla="val 5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101600" cy="15240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524000" y="2794000"/>
            <a:ext cx="3175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流程与吞吐效率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0" y="2794000"/>
            <a:ext cx="9652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指标：需求启动周期缩短、多 Story 并行吞吐提升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过程指标：需求到规约、设计到开发各阶段时间消耗，以及自动推进节点占比；Workstream 全生命周期耗时 (P50/P75/P95)。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14224000" cy="1524000"/>
          </a:xfrm>
          <a:prstGeom prst="roundRect">
            <a:avLst>
              <a:gd name="adj" fmla="val 5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101600" cy="1524000"/>
          </a:xfrm>
          <a:prstGeom prst="roundRect">
            <a:avLst>
              <a:gd name="adj" fmla="val 0"/>
            </a:avLst>
          </a:prstGeom>
          <a:solidFill>
            <a:srgbClr val="30BB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524000" y="4572000"/>
            <a:ext cx="3175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质量与准确率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0" y="4572000"/>
            <a:ext cx="9652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指标：QA 返工率下降、人工纠偏次数下降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过程指标：一次通过率、自动修复通过率；Review 问题数统计；测试用例生成数及接口 / UI 自动化测试通过率。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6096000"/>
            <a:ext cx="14224000" cy="1524000"/>
          </a:xfrm>
          <a:prstGeom prst="roundRect">
            <a:avLst>
              <a:gd name="adj" fmla="val 5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6096000"/>
            <a:ext cx="101600" cy="1524000"/>
          </a:xfrm>
          <a:prstGeom prst="roundRect">
            <a:avLst>
              <a:gd name="adj" fmla="val 0"/>
            </a:avLst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524000" y="6350000"/>
            <a:ext cx="3175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知识与资产沉淀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0" y="6350000"/>
            <a:ext cx="9652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指标：历史知识复用率提升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过程指标：Handoff 覆盖率、文档 / notes / memories 积累数量；Skill 上传、调用及点赞反馈统计；知识库自动召回次数。</a:t>
            </a:r>
            <a:endParaRPr lang="en-US" sz="16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00" y="-1270000"/>
            <a:ext cx="7620000" cy="762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335000" y="635000"/>
            <a:ext cx="3810000" cy="3810000"/>
          </a:xfrm>
          <a:prstGeom prst="ellipse">
            <a:avLst/>
          </a:pr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24000" y="3556000"/>
            <a:ext cx="13208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PART 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4445000"/>
            <a:ext cx="762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24000" y="4826000"/>
            <a:ext cx="132080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rPr>
              <a:t>下一阶段如何完善和规模化推广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这套流程已经在跑，不是待验证试点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6858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当前落地规模与进展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6858000" cy="1016000"/>
          </a:xfrm>
          <a:prstGeom prst="roundRect">
            <a:avLst>
              <a:gd name="adj" fmla="val 75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921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AI 团队内部与相关项目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已全面遵循 SDD + Agent Teams，贡献 52/96 闭环数据。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064000"/>
            <a:ext cx="6858000" cy="1016000"/>
          </a:xfrm>
          <a:prstGeom prst="roundRect">
            <a:avLst>
              <a:gd name="adj" fmla="val 75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4191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20000"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业务线规模接入 (服务云 &amp; neoUI)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合计 35 个 completed workstream，说明流程已在业务线场景中跑通，验证了业务线可运行性。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5334000"/>
            <a:ext cx="6858000" cy="1016000"/>
          </a:xfrm>
          <a:prstGeom prst="roundRect">
            <a:avLst>
              <a:gd name="adj" fmla="val 75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5461000"/>
            <a:ext cx="635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逐步辐射其他业务团队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正在从局部接入走向持续推广，基建支撑能力已受实战检验。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82000" y="2032000"/>
            <a:ext cx="6858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0BB78"/>
                </a:solidFill>
                <a:latin typeface="Inter"/>
                <a:ea typeface="Inter"/>
                <a:cs typeface="Inter"/>
                <a:sym typeface="Inter"/>
              </a:rPr>
              <a:t>痛点缓解验证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82000" y="2794000"/>
            <a:ext cx="6858000" cy="889000"/>
          </a:xfrm>
          <a:prstGeom prst="roundRect">
            <a:avLst>
              <a:gd name="adj" fmla="val 8571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0BB7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0" y="29845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需求背景散落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➜ TCHub 聚合 + pmAgent 澄清 (已落地)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873500"/>
            <a:ext cx="6858000" cy="889000"/>
          </a:xfrm>
          <a:prstGeom prst="roundRect">
            <a:avLst>
              <a:gd name="adj" fmla="val 8571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0BB7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636000" y="40640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设计偏离架构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➜ OpenSpec + reviewAgent 前置审查 (已落地)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953000"/>
            <a:ext cx="6858000" cy="889000"/>
          </a:xfrm>
          <a:prstGeom prst="roundRect">
            <a:avLst>
              <a:gd name="adj" fmla="val 8571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0BB7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36000" y="51435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重复补上下文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➜ TCHub Context Pack 自动管理 (已落地)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6032500"/>
            <a:ext cx="6858000" cy="889000"/>
          </a:xfrm>
          <a:prstGeom prst="roundRect">
            <a:avLst>
              <a:gd name="adj" fmla="val 8571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0BB7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636000" y="62230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Review及测试后置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➜ review 自动循环入列，自动化测试补齐中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7112000"/>
            <a:ext cx="6858000" cy="889000"/>
          </a:xfrm>
          <a:prstGeom prst="roundRect">
            <a:avLst>
              <a:gd name="adj" fmla="val 8571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0BB7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636000" y="73025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文档交接不标准</a:t>
            </a:r>
            <a:r>
              <a:rPr lang="en-US" sz="16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 ➜ docSyncAgent 校验与 Handoff 标准化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让 Agent 更准确：从“能执行”走向“高质量稳定执行”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核心不是让 Agent 做更多事，而是在真实业务与代码环境中做得更准、更稳、更可审查。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6858000" cy="1143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667000"/>
            <a:ext cx="6350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规格质量提升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强化 PRD、技术规格、验收标准模板，减少 Agent 对模糊需求的误判。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382000" y="2540000"/>
            <a:ext cx="6858000" cy="1143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82000" y="254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68D3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636000" y="2667000"/>
            <a:ext cx="6350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Agent 规则沉淀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持续补充各 Agent 的 steering、review checklist 与代码规范。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6858000" cy="1143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50800" cy="11430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70000" y="4699000"/>
            <a:ext cx="6350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专业 Skills 补充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围绕前端、后端、测试、代码审查等环节，把专家经验转成可复用能力包。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82000" y="4572000"/>
            <a:ext cx="6858000" cy="1143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4572000"/>
            <a:ext cx="50800" cy="1143000"/>
          </a:xfrm>
          <a:prstGeom prst="roundRect">
            <a:avLst>
              <a:gd name="adj" fmla="val 0"/>
            </a:avLst>
          </a:prstGeom>
          <a:solidFill>
            <a:srgbClr val="FC81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636000" y="4699000"/>
            <a:ext cx="6350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上下文召回优化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优化 TCHub Context Pack、历史文档召回与需求匹配，减少重复解释。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6731000"/>
            <a:ext cx="6858000" cy="1143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673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270000" y="6858000"/>
            <a:ext cx="6350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评测和回归机制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建立典型任务评测集、失败案例库和回归验证，用数据持续提升准确率。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382000" y="6731000"/>
            <a:ext cx="6858000" cy="1143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82000" y="673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636000" y="6858000"/>
            <a:ext cx="6350000" cy="889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质量门禁加强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强化 reviewAgent、testAgent 的前置审查和自动化验证，降低返工。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从 AI 团队内部实践，扩展为多业务线可复用流程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把各团队已有探索纳入统一流程和资产体系，让每条业务线沉淀自己的规则、知识与测试资产。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6858000" cy="1397000"/>
          </a:xfrm>
          <a:prstGeom prst="roundRect">
            <a:avLst>
              <a:gd name="adj" fmla="val 5454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97000" y="29845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流程标准化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统一 SDD 阶段、产物模板、状态流转和 handoff 要求。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382000" y="2794000"/>
            <a:ext cx="6858000" cy="1397000"/>
          </a:xfrm>
          <a:prstGeom prst="roundRect">
            <a:avLst>
              <a:gd name="adj" fmla="val 5454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82000" y="279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68D3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763000" y="29845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Agent 模板化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为平台、SFA、服务云等业务线沉淀专属 Agent 规则和 Skills。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6858000" cy="1397000"/>
          </a:xfrm>
          <a:prstGeom prst="roundRect">
            <a:avLst>
              <a:gd name="adj" fmla="val 5454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397000" y="47625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分散探索收敛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盘点各团队已有 Agent 提效实践，统一纳入 TCHub、Skill Hub 和 SDD 流程，避免重复建设。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82000" y="4572000"/>
            <a:ext cx="6858000" cy="1397000"/>
          </a:xfrm>
          <a:prstGeom prst="roundRect">
            <a:avLst>
              <a:gd name="adj" fmla="val 5454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763000" y="4762500"/>
            <a:ext cx="609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指标看板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建立业务线维度的效率、质量、知识复用和 Agent 准确率指标。</a:t>
            </a:r>
            <a:endParaRPr lang="en-US" sz="14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6350000"/>
            <a:ext cx="14224000" cy="1016000"/>
          </a:xfrm>
          <a:prstGeom prst="roundRect">
            <a:avLst>
              <a:gd name="adj" fmla="val 10000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182C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270000" y="6350000"/>
            <a:ext cx="1371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同时持续完善工具链、知识治理和 Kiro 可视化能力，让流程可见、可审阅、可追踪。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下一阶段需要的组织支持：共识、协同、资产、评测和平台投入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43942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397000" y="2540000"/>
            <a:ext cx="36322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组织认知与流程共识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理解 SDD 研发逻辑：不单是工具提效，而是用规格、质量门禁重构协作方式。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918200" y="2286000"/>
            <a:ext cx="43942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99200" y="2540000"/>
            <a:ext cx="36322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业务线深度协同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各业务线持续提供真实需求样例、业务逻辑约束、规范与质量反馈机制。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820400" y="2286000"/>
            <a:ext cx="43942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201400" y="2540000"/>
            <a:ext cx="36322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团队推广与经验收敛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盘点各团队探索，将可用 Prompt、脚本统一沉淀入系统流水线。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3942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397000" y="5334000"/>
            <a:ext cx="36322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FBD38D"/>
                </a:solidFill>
                <a:latin typeface="Inter"/>
                <a:ea typeface="Inter"/>
                <a:cs typeface="Inter"/>
                <a:sym typeface="Inter"/>
              </a:rPr>
              <a:t>知识和 Skill 共建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鼓励业务线将高频任务、坑点沉淀为 TCHub 结构化文档与 Skill。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918200" y="5080000"/>
            <a:ext cx="43942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99200" y="5334000"/>
            <a:ext cx="36322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FC8181"/>
                </a:solidFill>
                <a:latin typeface="Inter"/>
                <a:ea typeface="Inter"/>
                <a:cs typeface="Inter"/>
                <a:sym typeface="Inter"/>
              </a:rPr>
              <a:t>质量门禁与评测机制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投入真实场景以完善接口和 UI 测试闭环，建立持续的准确率评测体系。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820400" y="5080000"/>
            <a:ext cx="4394200" cy="2286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201400" y="5334000"/>
            <a:ext cx="3632200" cy="177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平台产品化持续投入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打磨底层工具与 Kiro 工作台，让整套流程更易用、更安全可控。</a:t>
            </a:r>
            <a:endParaRPr lang="en-US" sz="1500" b="0" i="0" u="none" strike="noStrike">
              <a:solidFill>
                <a:srgbClr val="A0AE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规模化推广需要正视风险，并用流程和平台能力前置控制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87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这套体系不是放任 Agent 不可控地自主执行，而是通过规格、审查、测试、权限、审计和知识治理，把风险前置到流程和平台中持续控制。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14224000" cy="889000"/>
          </a:xfrm>
          <a:prstGeom prst="roundRect">
            <a:avLst>
              <a:gd name="adj" fmla="val 5714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76200" cy="889000"/>
          </a:xfrm>
          <a:prstGeom prst="roundRect">
            <a:avLst>
              <a:gd name="adj" fmla="val 0"/>
            </a:avLst>
          </a:prstGeom>
          <a:solidFill>
            <a:srgbClr val="F5656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730500"/>
            <a:ext cx="381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C8181"/>
                </a:solidFill>
                <a:latin typeface="Inter"/>
                <a:ea typeface="Inter"/>
                <a:cs typeface="Inter"/>
                <a:sym typeface="Inter"/>
              </a:rPr>
              <a:t>Agent 执行准确率波动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2730500"/>
            <a:ext cx="8636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建设评测集与失败案例库，增加 reviewAgent 拦截节点，并保留人工兜底机制。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14224000" cy="889000"/>
          </a:xfrm>
          <a:prstGeom prst="roundRect">
            <a:avLst>
              <a:gd name="adj" fmla="val 5714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76200" cy="8890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70000" y="3746500"/>
            <a:ext cx="381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知识资产过期或失真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3746500"/>
            <a:ext cx="8636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利用 docSyncAgent 强制核查偏差，建立文档生命周期规则与长期反馈淘汰机制。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572000"/>
            <a:ext cx="14224000" cy="889000"/>
          </a:xfrm>
          <a:prstGeom prst="roundRect">
            <a:avLst>
              <a:gd name="adj" fmla="val 5714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76200" cy="889000"/>
          </a:xfrm>
          <a:prstGeom prst="roundRect">
            <a:avLst>
              <a:gd name="adj" fmla="val 0"/>
            </a:avLst>
          </a:prstGeom>
          <a:solidFill>
            <a:srgbClr val="FBD38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270000" y="4762500"/>
            <a:ext cx="381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D38D"/>
                </a:solidFill>
                <a:latin typeface="Inter"/>
                <a:ea typeface="Inter"/>
                <a:cs typeface="Inter"/>
                <a:sym typeface="Inter"/>
              </a:rPr>
              <a:t>各团队建设发散标准不一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34000" y="4762500"/>
            <a:ext cx="8636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通过统一的 SDD 核心流程及 TCHub 归集收敛，辅以业务线专属 Skill、复用边界和度量看板。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588000"/>
            <a:ext cx="14224000" cy="889000"/>
          </a:xfrm>
          <a:prstGeom prst="roundRect">
            <a:avLst>
              <a:gd name="adj" fmla="val 5714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588000"/>
            <a:ext cx="76200" cy="889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270000" y="5778500"/>
            <a:ext cx="381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业务接入门槛较高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34000" y="5778500"/>
            <a:ext cx="8636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采取 Agent 模板化、基建一键接引，以及平台架构专家的“伴随式导入”。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6604000"/>
            <a:ext cx="14224000" cy="889000"/>
          </a:xfrm>
          <a:prstGeom prst="roundRect">
            <a:avLst>
              <a:gd name="adj" fmla="val 5714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6604000"/>
            <a:ext cx="76200" cy="889000"/>
          </a:xfrm>
          <a:prstGeom prst="roundRect">
            <a:avLst>
              <a:gd name="adj" fmla="val 0"/>
            </a:avLst>
          </a:prstGeom>
          <a:solidFill>
            <a:srgbClr val="B79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270000" y="6794500"/>
            <a:ext cx="381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794F4"/>
                </a:solidFill>
                <a:latin typeface="Inter"/>
                <a:ea typeface="Inter"/>
                <a:cs typeface="Inter"/>
                <a:sym typeface="Inter"/>
              </a:rPr>
              <a:t>权限与测试链路隐患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334000" y="6794500"/>
            <a:ext cx="8636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MCP 工具实现细粒度授权与审计；测试用例强化失败断言回溯机制，确保系统底线安全。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50800"/>
            <a:ext cx="16256000" cy="9144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778000" y="1016000"/>
            <a:ext cx="1270000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44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从“单点提效工具”，升级为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000"/>
              </a:spcBef>
            </a:pPr>
            <a:r>
              <a:rPr lang="en-US" sz="56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公司级 AI 原生研发平台能力</a:t>
            </a:r>
            <a:endParaRPr lang="en-US" sz="5600" b="1" i="0" u="none" strike="noStrike">
              <a:solidFill>
                <a:srgbClr val="63B3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0" y="3175000"/>
            <a:ext cx="1270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40000" y="3683000"/>
            <a:ext cx="1117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真正的护城河不是引入了某一个先进大模型，而是将企业专属的规格、流程、知识与质量体系，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被 Agent Teams 持续执行和反哺，最终沉淀为</a:t>
            </a:r>
            <a:r>
              <a:rPr lang="en-US" sz="1800" b="1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可持续演进的公司级研发底座</a:t>
            </a:r>
            <a:r>
              <a:rPr lang="en-US" sz="1800" b="0" i="0" u="none" strike="noStrike">
                <a:solidFill>
                  <a:srgbClr val="A0AEC0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4953000"/>
            <a:ext cx="3975100" cy="1778000"/>
          </a:xfrm>
          <a:prstGeom prst="roundRect">
            <a:avLst>
              <a:gd name="adj" fmla="val 4285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032000" y="5207000"/>
            <a:ext cx="34671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3B3ED"/>
                </a:solidFill>
                <a:latin typeface="Inter"/>
                <a:ea typeface="Inter"/>
                <a:cs typeface="Inter"/>
                <a:sym typeface="Inter"/>
              </a:rPr>
              <a:t>1. 形成流程共识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从“使用 AI 工具”转向“按 AI 原生研发流程组织交付”。</a:t>
            </a:r>
            <a:endParaRPr lang="en-US" sz="15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134100" y="4953000"/>
            <a:ext cx="3975100" cy="1778000"/>
          </a:xfrm>
          <a:prstGeom prst="roundRect">
            <a:avLst>
              <a:gd name="adj" fmla="val 4285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88100" y="5207000"/>
            <a:ext cx="34671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8D391"/>
                </a:solidFill>
                <a:latin typeface="Inter"/>
                <a:ea typeface="Inter"/>
                <a:cs typeface="Inter"/>
                <a:sym typeface="Inter"/>
              </a:rPr>
              <a:t>2. 业务线共建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推动业务线共建规则、Skills、测试资产和真实案例，避免各团队分散建设。</a:t>
            </a:r>
            <a:endParaRPr lang="en-US" sz="15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490200" y="4953000"/>
            <a:ext cx="3975100" cy="1778000"/>
          </a:xfrm>
          <a:prstGeom prst="roundRect">
            <a:avLst>
              <a:gd name="adj" fmla="val 4285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44200" y="5207000"/>
            <a:ext cx="34671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Inter"/>
                <a:ea typeface="Inter"/>
                <a:cs typeface="Inter"/>
                <a:sym typeface="Inter"/>
              </a:rPr>
              <a:t>3. 持续完善产品化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打磨 TCHub / Skill Hub / MCP / Kiro 工作台等，让流程更易用。</a:t>
            </a:r>
            <a:endParaRPr lang="en-US" sz="1500" b="0" i="0" u="none" strike="noStrike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0" y="7366000"/>
            <a:ext cx="16256000" cy="1778000"/>
          </a:xfrm>
          <a:prstGeom prst="roundRect">
            <a:avLst>
              <a:gd name="adj" fmla="val 0"/>
            </a:avLst>
          </a:prstGeom>
          <a:solidFill>
            <a:srgbClr val="3182C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540000" y="7747000"/>
            <a:ext cx="11176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下一阶段的关键，不只是继续完善工具，而是推动组织形成流程共识，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并通过真实业务线共建，把局部 Agent 提效探索沉淀为公司级研发平台能力。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50800"/>
            <a:ext cx="16256000" cy="9144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图片 13" descr="Clipboard_Screenshot_17790861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" y="568325"/>
            <a:ext cx="9782175" cy="6114415"/>
          </a:xfrm>
          <a:prstGeom prst="rect">
            <a:avLst/>
          </a:prstGeom>
        </p:spPr>
      </p:pic>
      <p:pic>
        <p:nvPicPr>
          <p:cNvPr id="15" name="图片 14" descr="企业微信截图_e6e0d5b9-e188-40dc-b629-4b7298cf43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55" y="3029585"/>
            <a:ext cx="9783445" cy="6114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6610</Words>
  <Application>WPS 演示</Application>
  <PresentationFormat/>
  <Paragraphs>588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51" baseType="lpstr">
      <vt:lpstr>Arial</vt:lpstr>
      <vt:lpstr>宋体</vt:lpstr>
      <vt:lpstr>Wingdings</vt:lpstr>
      <vt:lpstr>Arial</vt:lpstr>
      <vt:lpstr>Inter</vt:lpstr>
      <vt:lpstr>Thonburi</vt:lpstr>
      <vt:lpstr>Roboto</vt:lpstr>
      <vt:lpstr>Noto Sans SC</vt:lpstr>
      <vt:lpstr>Space Grotesk</vt:lpstr>
      <vt:lpstr>宋体</vt:lpstr>
      <vt:lpstr>汉仪书宋二KW</vt:lpstr>
      <vt:lpstr>微软雅黑</vt:lpstr>
      <vt:lpstr>汉仪旗黑</vt:lpstr>
      <vt:lpstr>Arial Unicode MS</vt:lpstr>
      <vt:lpstr>Inter</vt:lpstr>
      <vt:lpstr>Noto Sans SC</vt:lpstr>
      <vt:lpstr>Roboto</vt:lpstr>
      <vt:lpstr>Space Grotesk</vt:lpstr>
      <vt:lpstr>苹方-简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刘超</cp:lastModifiedBy>
  <cp:revision>1</cp:revision>
  <dcterms:created xsi:type="dcterms:W3CDTF">2026-05-18T07:50:53Z</dcterms:created>
  <dcterms:modified xsi:type="dcterms:W3CDTF">2026-05-18T07:50:53Z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3510A224D3F9CE48DCC40A6A1A83C40C_42</vt:lpwstr>
  </property>
  <property fmtid="{D5CDD505-2E9C-101B-9397-08002B2CF9AE}" pid="3" name="KSOProductBuildVer">
    <vt:lpwstr>2052-12.1.25895.25895</vt:lpwstr>
  </property>
</Properties>
</file>